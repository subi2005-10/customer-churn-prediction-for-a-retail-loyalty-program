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B9A02CD-98F1-48EF-CDBE-41A032D4FAD8}">
          <p14:sldIdLst>
            <p14:sldId id="256"/>
            <p14:sldId id="257"/>
          </p14:sldIdLst>
        </p14:section>
        <p14:section name="Data" id="{78290503-DC68-0ACA-18AD-37FB10D5CC96}">
          <p14:sldIdLst>
            <p14:sldId id="258"/>
            <p14:sldId id="259"/>
          </p14:sldIdLst>
        </p14:section>
        <p14:section name="Method" id="{C97EBABD-89F4-43C9-503F-584CD0F1FE4A}">
          <p14:sldIdLst>
            <p14:sldId id="260"/>
          </p14:sldIdLst>
        </p14:section>
        <p14:section name="Findings" id="{6097298C-79BB-D23F-F6DE-ED11A8453120}">
          <p14:sldIdLst>
            <p14:sldId id="261"/>
          </p14:sldIdLst>
        </p14:section>
        <p14:section name="Model" id="{B67F4D26-E496-63E2-C582-3F96C2BB31E6}">
          <p14:sldIdLst>
            <p14:sldId id="262"/>
            <p14:sldId id="263"/>
            <p14:sldId id="264"/>
            <p14:sldId id="265"/>
          </p14:sldIdLst>
        </p14:section>
        <p14:section name="Action" id="{B6D8F141-C8CA-AD4E-019D-7E0C81872BF8}">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66" d="100"/>
          <a:sy n="66" d="100"/>
        </p:scale>
        <p:origin x="130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B2A22"/>
                </a:solidFill>
                <a:latin typeface="+mn-lt"/>
              </a:defRPr>
            </a:pPr>
            <a:r>
              <a:rPr lang="en-US" sz="1500" b="0" i="0" u="none" strike="noStrike">
                <a:solidFill>
                  <a:srgbClr val="1B2A22"/>
                </a:solidFill>
                <a:latin typeface="+mn-lt"/>
              </a:rPr>
              <a:t>Quarter of last purchase, churned members</a:t>
            </a:r>
          </a:p>
        </c:rich>
      </c:tx>
      <c:overlay val="0"/>
    </c:title>
    <c:autoTitleDeleted val="0"/>
    <c:plotArea>
      <c:layout/>
      <c:barChart>
        <c:barDir val="col"/>
        <c:grouping val="clustered"/>
        <c:varyColors val="0"/>
        <c:ser>
          <c:idx val="0"/>
          <c:order val="0"/>
          <c:tx>
            <c:strRef>
              <c:f>Sheet1!$B$1</c:f>
              <c:strCache>
                <c:ptCount val="1"/>
                <c:pt idx="0">
                  <c:v>Churned members</c:v>
                </c:pt>
              </c:strCache>
            </c:strRef>
          </c:tx>
          <c:spPr>
            <a:solidFill>
              <a:srgbClr val="8A8D87"/>
            </a:solidFill>
            <a:effectLst/>
          </c:spPr>
          <c:invertIfNegative val="0"/>
          <c:dPt>
            <c:idx val="0"/>
            <c:invertIfNegative val="0"/>
            <c:bubble3D val="0"/>
            <c:spPr>
              <a:solidFill>
                <a:srgbClr val="8A8D87"/>
              </a:solidFill>
              <a:effectLst/>
            </c:spPr>
            <c:extLst>
              <c:ext xmlns:c16="http://schemas.microsoft.com/office/drawing/2014/chart" uri="{C3380CC4-5D6E-409C-BE32-E72D297353CC}">
                <c16:uniqueId val="{00000001-8957-4EF6-A98C-40A5F3107D0F}"/>
              </c:ext>
            </c:extLst>
          </c:dPt>
          <c:dPt>
            <c:idx val="1"/>
            <c:invertIfNegative val="0"/>
            <c:bubble3D val="0"/>
            <c:spPr>
              <a:solidFill>
                <a:srgbClr val="8A8D87"/>
              </a:solidFill>
              <a:effectLst/>
            </c:spPr>
            <c:extLst>
              <c:ext xmlns:c16="http://schemas.microsoft.com/office/drawing/2014/chart" uri="{C3380CC4-5D6E-409C-BE32-E72D297353CC}">
                <c16:uniqueId val="{00000003-8957-4EF6-A98C-40A5F3107D0F}"/>
              </c:ext>
            </c:extLst>
          </c:dPt>
          <c:dPt>
            <c:idx val="2"/>
            <c:invertIfNegative val="0"/>
            <c:bubble3D val="0"/>
            <c:spPr>
              <a:solidFill>
                <a:srgbClr val="8A8D87"/>
              </a:solidFill>
              <a:effectLst/>
            </c:spPr>
            <c:extLst>
              <c:ext xmlns:c16="http://schemas.microsoft.com/office/drawing/2014/chart" uri="{C3380CC4-5D6E-409C-BE32-E72D297353CC}">
                <c16:uniqueId val="{00000005-8957-4EF6-A98C-40A5F3107D0F}"/>
              </c:ext>
            </c:extLst>
          </c:dPt>
          <c:dPt>
            <c:idx val="3"/>
            <c:invertIfNegative val="0"/>
            <c:bubble3D val="0"/>
            <c:spPr>
              <a:solidFill>
                <a:srgbClr val="8A8D87"/>
              </a:solidFill>
              <a:effectLst/>
            </c:spPr>
            <c:extLst>
              <c:ext xmlns:c16="http://schemas.microsoft.com/office/drawing/2014/chart" uri="{C3380CC4-5D6E-409C-BE32-E72D297353CC}">
                <c16:uniqueId val="{00000007-8957-4EF6-A98C-40A5F3107D0F}"/>
              </c:ext>
            </c:extLst>
          </c:dPt>
          <c:dPt>
            <c:idx val="4"/>
            <c:invertIfNegative val="0"/>
            <c:bubble3D val="0"/>
            <c:spPr>
              <a:solidFill>
                <a:srgbClr val="E8603C"/>
              </a:solidFill>
              <a:effectLst/>
            </c:spPr>
            <c:extLst>
              <c:ext xmlns:c16="http://schemas.microsoft.com/office/drawing/2014/chart" uri="{C3380CC4-5D6E-409C-BE32-E72D297353CC}">
                <c16:uniqueId val="{00000009-8957-4EF6-A98C-40A5F3107D0F}"/>
              </c:ext>
            </c:extLst>
          </c:dPt>
          <c:dLbls>
            <c:numFmt formatCode="#,##0" sourceLinked="0"/>
            <c:spPr>
              <a:noFill/>
              <a:ln>
                <a:noFill/>
              </a:ln>
              <a:effectLst/>
            </c:spPr>
            <c:txPr>
              <a:bodyPr/>
              <a:lstStyle/>
              <a:p>
                <a:pPr>
                  <a:defRPr sz="1300" b="0" i="0" u="none" strike="noStrike">
                    <a:solidFill>
                      <a:srgbClr val="1B2A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2023 Q1</c:v>
                </c:pt>
                <c:pt idx="1">
                  <c:v>2023 Q2</c:v>
                </c:pt>
                <c:pt idx="2">
                  <c:v>2023 Q3</c:v>
                </c:pt>
                <c:pt idx="3">
                  <c:v>2023 Q4</c:v>
                </c:pt>
                <c:pt idx="4">
                  <c:v>2024 Q1</c:v>
                </c:pt>
              </c:strCache>
            </c:strRef>
          </c:cat>
          <c:val>
            <c:numRef>
              <c:f>Sheet1!$B$2:$B$6</c:f>
              <c:numCache>
                <c:formatCode>General</c:formatCode>
                <c:ptCount val="5"/>
                <c:pt idx="0">
                  <c:v>158</c:v>
                </c:pt>
                <c:pt idx="1">
                  <c:v>162</c:v>
                </c:pt>
                <c:pt idx="2">
                  <c:v>160</c:v>
                </c:pt>
                <c:pt idx="3">
                  <c:v>169</c:v>
                </c:pt>
                <c:pt idx="4">
                  <c:v>164</c:v>
                </c:pt>
              </c:numCache>
            </c:numRef>
          </c:val>
          <c:extLst>
            <c:ext xmlns:c16="http://schemas.microsoft.com/office/drawing/2014/chart" uri="{C3380CC4-5D6E-409C-BE32-E72D297353CC}">
              <c16:uniqueId val="{0000000A-8957-4EF6-A98C-40A5F3107D0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A4F4B"/>
                </a:solidFill>
                <a:latin typeface="+mn-lt"/>
              </a:defRPr>
            </a:pPr>
            <a:endParaRPr lang="en-US"/>
          </a:p>
        </c:txPr>
        <c:crossAx val="2094734552"/>
        <c:crosses val="autoZero"/>
        <c:auto val="1"/>
        <c:lblAlgn val="ctr"/>
        <c:lblOffset val="100"/>
        <c:noMultiLvlLbl val="1"/>
      </c:catAx>
      <c:valAx>
        <c:axId val="2094734552"/>
        <c:scaling>
          <c:orientation val="minMax"/>
          <c:max val="2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B2A22"/>
                </a:solidFill>
                <a:latin typeface="+mn-lt"/>
              </a:defRPr>
            </a:pPr>
            <a:r>
              <a:rPr lang="en-US" sz="1500" b="0" i="0" u="none" strike="noStrike">
                <a:solidFill>
                  <a:srgbClr val="1B2A22"/>
                </a:solidFill>
                <a:latin typeface="+mn-lt"/>
              </a:rPr>
              <a:t>Churn rate by support tickets in Jan-Mar</a:t>
            </a:r>
          </a:p>
        </c:rich>
      </c:tx>
      <c:overlay val="0"/>
    </c:title>
    <c:autoTitleDeleted val="0"/>
    <c:plotArea>
      <c:layout/>
      <c:barChart>
        <c:barDir val="col"/>
        <c:grouping val="clustered"/>
        <c:varyColors val="0"/>
        <c:ser>
          <c:idx val="0"/>
          <c:order val="0"/>
          <c:tx>
            <c:strRef>
              <c:f>Sheet1!$B$1</c:f>
              <c:strCache>
                <c:ptCount val="1"/>
                <c:pt idx="0">
                  <c:v>Churn rate</c:v>
                </c:pt>
              </c:strCache>
            </c:strRef>
          </c:tx>
          <c:spPr>
            <a:solidFill>
              <a:srgbClr val="E8603C"/>
            </a:solidFill>
            <a:effectLst/>
          </c:spPr>
          <c:invertIfNegative val="0"/>
          <c:dLbls>
            <c:numFmt formatCode="0&quot;%&quot;" sourceLinked="0"/>
            <c:spPr>
              <a:noFill/>
              <a:ln>
                <a:noFill/>
              </a:ln>
              <a:effectLst/>
            </c:spPr>
            <c:txPr>
              <a:bodyPr/>
              <a:lstStyle/>
              <a:p>
                <a:pPr>
                  <a:defRPr sz="1300" b="0" i="0" u="none" strike="noStrike">
                    <a:solidFill>
                      <a:srgbClr val="1B2A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c:v>
                </c:pt>
                <c:pt idx="1">
                  <c:v>1</c:v>
                </c:pt>
                <c:pt idx="2">
                  <c:v>2</c:v>
                </c:pt>
                <c:pt idx="3">
                  <c:v>3+ (19 members)</c:v>
                </c:pt>
              </c:strCache>
            </c:strRef>
          </c:cat>
          <c:val>
            <c:numRef>
              <c:f>Sheet1!$B$2:$B$5</c:f>
              <c:numCache>
                <c:formatCode>General</c:formatCode>
                <c:ptCount val="4"/>
                <c:pt idx="0">
                  <c:v>5.0999999999999996</c:v>
                </c:pt>
                <c:pt idx="1">
                  <c:v>15</c:v>
                </c:pt>
                <c:pt idx="2">
                  <c:v>27.3</c:v>
                </c:pt>
                <c:pt idx="3">
                  <c:v>73.7</c:v>
                </c:pt>
              </c:numCache>
            </c:numRef>
          </c:val>
          <c:extLst>
            <c:ext xmlns:c16="http://schemas.microsoft.com/office/drawing/2014/chart" uri="{C3380CC4-5D6E-409C-BE32-E72D297353CC}">
              <c16:uniqueId val="{00000000-FBFD-4DCE-990B-096A477C13E7}"/>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A4F4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B2A22"/>
                </a:solidFill>
                <a:latin typeface="+mn-lt"/>
              </a:defRPr>
            </a:pPr>
            <a:r>
              <a:rPr lang="en-US" sz="1500" b="0" i="0" u="none" strike="noStrike">
                <a:solidFill>
                  <a:srgbClr val="1B2A22"/>
                </a:solidFill>
                <a:latin typeface="+mn-lt"/>
              </a:rPr>
              <a:t>Churn rate by app sessions per month</a:t>
            </a:r>
          </a:p>
        </c:rich>
      </c:tx>
      <c:overlay val="0"/>
    </c:title>
    <c:autoTitleDeleted val="0"/>
    <c:plotArea>
      <c:layout/>
      <c:barChart>
        <c:barDir val="col"/>
        <c:grouping val="clustered"/>
        <c:varyColors val="0"/>
        <c:ser>
          <c:idx val="0"/>
          <c:order val="0"/>
          <c:tx>
            <c:strRef>
              <c:f>Sheet1!$B$1</c:f>
              <c:strCache>
                <c:ptCount val="1"/>
                <c:pt idx="0">
                  <c:v>Churn rate</c:v>
                </c:pt>
              </c:strCache>
            </c:strRef>
          </c:tx>
          <c:spPr>
            <a:solidFill>
              <a:srgbClr val="1F4D3A"/>
            </a:solidFill>
            <a:effectLst/>
          </c:spPr>
          <c:invertIfNegative val="0"/>
          <c:dLbls>
            <c:numFmt formatCode="0&quot;%&quot;" sourceLinked="0"/>
            <c:spPr>
              <a:noFill/>
              <a:ln>
                <a:noFill/>
              </a:ln>
              <a:effectLst/>
            </c:spPr>
            <c:txPr>
              <a:bodyPr/>
              <a:lstStyle/>
              <a:p>
                <a:pPr>
                  <a:defRPr sz="1300" b="0" i="0" u="none" strike="noStrike">
                    <a:solidFill>
                      <a:srgbClr val="1B2A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&lt;0.5</c:v>
                </c:pt>
                <c:pt idx="1">
                  <c:v>0.5-1.5</c:v>
                </c:pt>
                <c:pt idx="2">
                  <c:v>1.5-3</c:v>
                </c:pt>
                <c:pt idx="3">
                  <c:v>3+</c:v>
                </c:pt>
              </c:strCache>
            </c:strRef>
          </c:cat>
          <c:val>
            <c:numRef>
              <c:f>Sheet1!$B$2:$B$5</c:f>
              <c:numCache>
                <c:formatCode>General</c:formatCode>
                <c:ptCount val="4"/>
                <c:pt idx="0">
                  <c:v>44</c:v>
                </c:pt>
                <c:pt idx="1">
                  <c:v>11.5</c:v>
                </c:pt>
                <c:pt idx="2">
                  <c:v>2.9</c:v>
                </c:pt>
                <c:pt idx="3">
                  <c:v>0</c:v>
                </c:pt>
              </c:numCache>
            </c:numRef>
          </c:val>
          <c:extLst>
            <c:ext xmlns:c16="http://schemas.microsoft.com/office/drawing/2014/chart" uri="{C3380CC4-5D6E-409C-BE32-E72D297353CC}">
              <c16:uniqueId val="{00000000-83CB-4BFF-9933-90FDFD4B2FB8}"/>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A4F4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B2A22"/>
                </a:solidFill>
                <a:latin typeface="+mn-lt"/>
              </a:defRPr>
            </a:pPr>
            <a:r>
              <a:rPr lang="en-US" sz="1500" b="0" i="0" u="none" strike="noStrike">
                <a:solidFill>
                  <a:srgbClr val="1B2A22"/>
                </a:solidFill>
                <a:latin typeface="+mn-lt"/>
              </a:rPr>
              <a:t>PR-AUC on held-out Apr-Jun 2024 label</a:t>
            </a:r>
          </a:p>
        </c:rich>
      </c:tx>
      <c:overlay val="0"/>
    </c:title>
    <c:autoTitleDeleted val="0"/>
    <c:plotArea>
      <c:layout/>
      <c:barChart>
        <c:barDir val="bar"/>
        <c:grouping val="clustered"/>
        <c:varyColors val="0"/>
        <c:ser>
          <c:idx val="0"/>
          <c:order val="0"/>
          <c:tx>
            <c:strRef>
              <c:f>Sheet1!$B$1</c:f>
              <c:strCache>
                <c:ptCount val="1"/>
                <c:pt idx="0">
                  <c:v>All members</c:v>
                </c:pt>
              </c:strCache>
            </c:strRef>
          </c:tx>
          <c:spPr>
            <a:solidFill>
              <a:srgbClr val="8A8D87"/>
            </a:solidFill>
            <a:effectLst/>
          </c:spPr>
          <c:invertIfNegative val="0"/>
          <c:dLbls>
            <c:numFmt formatCode="0.00" sourceLinked="0"/>
            <c:spPr>
              <a:noFill/>
              <a:ln>
                <a:noFill/>
              </a:ln>
              <a:effectLst/>
            </c:spPr>
            <c:txPr>
              <a:bodyPr/>
              <a:lstStyle/>
              <a:p>
                <a:pPr>
                  <a:defRPr sz="1300" b="0" i="0" u="none" strike="noStrike">
                    <a:solidFill>
                      <a:srgbClr val="1B2A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Rule (recency)</c:v>
                </c:pt>
                <c:pt idx="1">
                  <c:v>Logistic reg.</c:v>
                </c:pt>
                <c:pt idx="2">
                  <c:v>Random forest</c:v>
                </c:pt>
                <c:pt idx="3">
                  <c:v>LightGBM weighted</c:v>
                </c:pt>
                <c:pt idx="4">
                  <c:v>LightGBM (final)</c:v>
                </c:pt>
              </c:strCache>
            </c:strRef>
          </c:cat>
          <c:val>
            <c:numRef>
              <c:f>Sheet1!$B$2:$B$6</c:f>
              <c:numCache>
                <c:formatCode>General</c:formatCode>
                <c:ptCount val="5"/>
                <c:pt idx="0">
                  <c:v>0.95</c:v>
                </c:pt>
                <c:pt idx="1">
                  <c:v>0.99</c:v>
                </c:pt>
                <c:pt idx="2">
                  <c:v>0.99</c:v>
                </c:pt>
                <c:pt idx="3">
                  <c:v>0.99</c:v>
                </c:pt>
                <c:pt idx="4">
                  <c:v>0.99</c:v>
                </c:pt>
              </c:numCache>
            </c:numRef>
          </c:val>
          <c:extLst>
            <c:ext xmlns:c16="http://schemas.microsoft.com/office/drawing/2014/chart" uri="{C3380CC4-5D6E-409C-BE32-E72D297353CC}">
              <c16:uniqueId val="{00000000-EE86-4F86-B8A7-AB6054AB60C0}"/>
            </c:ext>
          </c:extLst>
        </c:ser>
        <c:ser>
          <c:idx val="1"/>
          <c:order val="1"/>
          <c:tx>
            <c:strRef>
              <c:f>Sheet1!$C$1</c:f>
              <c:strCache>
                <c:ptCount val="1"/>
                <c:pt idx="0">
                  <c:v>Active members</c:v>
                </c:pt>
              </c:strCache>
            </c:strRef>
          </c:tx>
          <c:spPr>
            <a:solidFill>
              <a:srgbClr val="1F4D3A"/>
            </a:solidFill>
            <a:effectLst/>
          </c:spPr>
          <c:invertIfNegative val="0"/>
          <c:dLbls>
            <c:numFmt formatCode="0.00" sourceLinked="0"/>
            <c:spPr>
              <a:noFill/>
              <a:ln>
                <a:noFill/>
              </a:ln>
              <a:effectLst/>
            </c:spPr>
            <c:txPr>
              <a:bodyPr/>
              <a:lstStyle/>
              <a:p>
                <a:pPr>
                  <a:defRPr sz="1300" b="0" i="0" u="none" strike="noStrike">
                    <a:solidFill>
                      <a:srgbClr val="1B2A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Rule (recency)</c:v>
                </c:pt>
                <c:pt idx="1">
                  <c:v>Logistic reg.</c:v>
                </c:pt>
                <c:pt idx="2">
                  <c:v>Random forest</c:v>
                </c:pt>
                <c:pt idx="3">
                  <c:v>LightGBM weighted</c:v>
                </c:pt>
                <c:pt idx="4">
                  <c:v>LightGBM (final)</c:v>
                </c:pt>
              </c:strCache>
            </c:strRef>
          </c:cat>
          <c:val>
            <c:numRef>
              <c:f>Sheet1!$C$2:$C$6</c:f>
              <c:numCache>
                <c:formatCode>General</c:formatCode>
                <c:ptCount val="5"/>
                <c:pt idx="0">
                  <c:v>0.46</c:v>
                </c:pt>
                <c:pt idx="1">
                  <c:v>0.82</c:v>
                </c:pt>
                <c:pt idx="2">
                  <c:v>0.8</c:v>
                </c:pt>
                <c:pt idx="3">
                  <c:v>0.82</c:v>
                </c:pt>
                <c:pt idx="4">
                  <c:v>0.81</c:v>
                </c:pt>
              </c:numCache>
            </c:numRef>
          </c:val>
          <c:extLst>
            <c:ext xmlns:c16="http://schemas.microsoft.com/office/drawing/2014/chart" uri="{C3380CC4-5D6E-409C-BE32-E72D297353CC}">
              <c16:uniqueId val="{00000001-EE86-4F86-B8A7-AB6054AB60C0}"/>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4F4B"/>
                </a:solidFill>
                <a:latin typeface="+mn-lt"/>
              </a:defRPr>
            </a:pPr>
            <a:endParaRPr lang="en-US"/>
          </a:p>
        </c:txPr>
        <c:crossAx val="2094734552"/>
        <c:crosses val="autoZero"/>
        <c:auto val="1"/>
        <c:lblAlgn val="ctr"/>
        <c:lblOffset val="100"/>
        <c:noMultiLvlLbl val="1"/>
      </c:catAx>
      <c:valAx>
        <c:axId val="2094734552"/>
        <c:scaling>
          <c:orientation val="minMax"/>
          <c:max val="1.1000000000000001"/>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B2A22"/>
                </a:solidFill>
                <a:latin typeface="+mn-lt"/>
              </a:defRPr>
            </a:pPr>
            <a:r>
              <a:rPr lang="en-US" sz="1500" b="0" i="0" u="none" strike="noStrike">
                <a:solidFill>
                  <a:srgbClr val="1B2A22"/>
                </a:solidFill>
                <a:latin typeface="+mn-lt"/>
              </a:rPr>
              <a:t>Top drivers, active members (mean |SHAP|)</a:t>
            </a:r>
          </a:p>
        </c:rich>
      </c:tx>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1F4D3A"/>
            </a:solidFill>
            <a:effectLst/>
          </c:spPr>
          <c:invertIfNegative val="0"/>
          <c:dLbls>
            <c:numFmt formatCode="0.00" sourceLinked="0"/>
            <c:spPr>
              <a:noFill/>
              <a:ln>
                <a:noFill/>
              </a:ln>
              <a:effectLst/>
            </c:spPr>
            <c:txPr>
              <a:bodyPr/>
              <a:lstStyle/>
              <a:p>
                <a:pPr>
                  <a:defRPr sz="1300" b="0" i="0" u="none" strike="noStrike">
                    <a:solidFill>
                      <a:srgbClr val="1B2A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Transactions last month</c:v>
                </c:pt>
                <c:pt idx="1">
                  <c:v>App sessions / month</c:v>
                </c:pt>
                <c:pt idx="2">
                  <c:v>Emails opened / month</c:v>
                </c:pt>
                <c:pt idx="3">
                  <c:v>Transactions / month (3 mo)</c:v>
                </c:pt>
                <c:pt idx="4">
                  <c:v>Spend / month (3 mo)</c:v>
                </c:pt>
                <c:pt idx="5">
                  <c:v>Months since purchase</c:v>
                </c:pt>
                <c:pt idx="6">
                  <c:v>Support tickets (3 mo)</c:v>
                </c:pt>
                <c:pt idx="7">
                  <c:v>Coupons redeemed / month</c:v>
                </c:pt>
              </c:strCache>
            </c:strRef>
          </c:cat>
          <c:val>
            <c:numRef>
              <c:f>Sheet1!$B$2:$B$9</c:f>
              <c:numCache>
                <c:formatCode>General</c:formatCode>
                <c:ptCount val="8"/>
                <c:pt idx="0">
                  <c:v>0.82</c:v>
                </c:pt>
                <c:pt idx="1">
                  <c:v>0.82</c:v>
                </c:pt>
                <c:pt idx="2">
                  <c:v>0.5</c:v>
                </c:pt>
                <c:pt idx="3">
                  <c:v>0.47</c:v>
                </c:pt>
                <c:pt idx="4">
                  <c:v>0.41</c:v>
                </c:pt>
                <c:pt idx="5">
                  <c:v>0.34</c:v>
                </c:pt>
                <c:pt idx="6">
                  <c:v>0.25</c:v>
                </c:pt>
                <c:pt idx="7">
                  <c:v>0.21</c:v>
                </c:pt>
              </c:numCache>
            </c:numRef>
          </c:val>
          <c:extLst>
            <c:ext xmlns:c16="http://schemas.microsoft.com/office/drawing/2014/chart" uri="{C3380CC4-5D6E-409C-BE32-E72D297353CC}">
              <c16:uniqueId val="{00000000-C6D1-4AEE-9520-51C9516CBEDD}"/>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4F4B"/>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B2A22"/>
                </a:solidFill>
                <a:latin typeface="+mn-lt"/>
              </a:defRPr>
            </a:pPr>
            <a:r>
              <a:rPr lang="en-US" sz="1500" b="0" i="0" u="none" strike="noStrike">
                <a:solidFill>
                  <a:srgbClr val="1B2A22"/>
                </a:solidFill>
                <a:latin typeface="+mn-lt"/>
              </a:rPr>
              <a:t>PR-AUC on active members by feature set</a:t>
            </a:r>
          </a:p>
        </c:rich>
      </c:tx>
      <c:overlay val="0"/>
    </c:title>
    <c:autoTitleDeleted val="0"/>
    <c:plotArea>
      <c:layout/>
      <c:barChart>
        <c:barDir val="bar"/>
        <c:grouping val="clustered"/>
        <c:varyColors val="0"/>
        <c:ser>
          <c:idx val="0"/>
          <c:order val="0"/>
          <c:tx>
            <c:strRef>
              <c:f>Sheet1!$B$1</c:f>
              <c:strCache>
                <c:ptCount val="1"/>
                <c:pt idx="0">
                  <c:v>PR-AUC, active members</c:v>
                </c:pt>
              </c:strCache>
            </c:strRef>
          </c:tx>
          <c:spPr>
            <a:solidFill>
              <a:srgbClr val="3B7EA1"/>
            </a:solidFill>
            <a:effectLst/>
          </c:spPr>
          <c:invertIfNegative val="0"/>
          <c:dLbls>
            <c:numFmt formatCode="0.00" sourceLinked="0"/>
            <c:spPr>
              <a:noFill/>
              <a:ln>
                <a:noFill/>
              </a:ln>
              <a:effectLst/>
            </c:spPr>
            <c:txPr>
              <a:bodyPr/>
              <a:lstStyle/>
              <a:p>
                <a:pPr>
                  <a:defRPr sz="1300" b="0" i="0" u="none" strike="noStrike">
                    <a:solidFill>
                      <a:srgbClr val="1B2A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Demographics only</c:v>
                </c:pt>
                <c:pt idx="1">
                  <c:v>+ support</c:v>
                </c:pt>
                <c:pt idx="2">
                  <c:v>+ behavioural</c:v>
                </c:pt>
                <c:pt idx="3">
                  <c:v>+ engagement</c:v>
                </c:pt>
                <c:pt idx="4">
                  <c:v>+ engagement + support</c:v>
                </c:pt>
                <c:pt idx="5">
                  <c:v>All minus engagement</c:v>
                </c:pt>
                <c:pt idx="6">
                  <c:v>All minus support</c:v>
                </c:pt>
                <c:pt idx="7">
                  <c:v>All features</c:v>
                </c:pt>
              </c:strCache>
            </c:strRef>
          </c:cat>
          <c:val>
            <c:numRef>
              <c:f>Sheet1!$B$2:$B$9</c:f>
              <c:numCache>
                <c:formatCode>General</c:formatCode>
                <c:ptCount val="8"/>
                <c:pt idx="0">
                  <c:v>0.1</c:v>
                </c:pt>
                <c:pt idx="1">
                  <c:v>0.16</c:v>
                </c:pt>
                <c:pt idx="2">
                  <c:v>0.68</c:v>
                </c:pt>
                <c:pt idx="3">
                  <c:v>0.69</c:v>
                </c:pt>
                <c:pt idx="4">
                  <c:v>0.72</c:v>
                </c:pt>
                <c:pt idx="5">
                  <c:v>0.74</c:v>
                </c:pt>
                <c:pt idx="6">
                  <c:v>0.78</c:v>
                </c:pt>
                <c:pt idx="7">
                  <c:v>0.81</c:v>
                </c:pt>
              </c:numCache>
            </c:numRef>
          </c:val>
          <c:extLst>
            <c:ext xmlns:c16="http://schemas.microsoft.com/office/drawing/2014/chart" uri="{C3380CC4-5D6E-409C-BE32-E72D297353CC}">
              <c16:uniqueId val="{00000000-53D8-455F-AC0B-0A1611207E92}"/>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4F4B"/>
                </a:solidFill>
                <a:latin typeface="+mn-lt"/>
              </a:defRPr>
            </a:pPr>
            <a:endParaRPr lang="en-US"/>
          </a:p>
        </c:txPr>
        <c:crossAx val="2094734552"/>
        <c:crosses val="autoZero"/>
        <c:auto val="1"/>
        <c:lblAlgn val="ctr"/>
        <c:lblOffset val="100"/>
        <c:noMultiLvlLbl val="1"/>
      </c:catAx>
      <c:valAx>
        <c:axId val="2094734552"/>
        <c:scaling>
          <c:orientation val="minMax"/>
          <c:max val="1"/>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B2A22"/>
                </a:solidFill>
                <a:latin typeface="+mn-lt"/>
              </a:defRPr>
            </a:pPr>
            <a:r>
              <a:rPr lang="en-US" sz="1500" b="0" i="0" u="none" strike="noStrike">
                <a:solidFill>
                  <a:srgbClr val="1B2A22"/>
                </a:solidFill>
                <a:latin typeface="+mn-lt"/>
              </a:rPr>
              <a:t>% of actual churners reached vs % of active members contacted</a:t>
            </a:r>
          </a:p>
        </c:rich>
      </c:tx>
      <c:overlay val="0"/>
    </c:title>
    <c:autoTitleDeleted val="0"/>
    <c:plotArea>
      <c:layout/>
      <c:scatterChart>
        <c:scatterStyle val="lineMarker"/>
        <c:varyColors val="0"/>
        <c:ser>
          <c:idx val="0"/>
          <c:order val="0"/>
          <c:tx>
            <c:strRef>
              <c:f>Sheet1!$B$1</c:f>
              <c:strCache>
                <c:ptCount val="1"/>
                <c:pt idx="0">
                  <c:v>Ranked by model</c:v>
                </c:pt>
              </c:strCache>
            </c:strRef>
          </c:tx>
          <c:spPr>
            <a:ln w="38100" cap="flat">
              <a:solidFill>
                <a:srgbClr val="1F4D3A"/>
              </a:solidFill>
              <a:prstDash val="solid"/>
              <a:round/>
            </a:ln>
            <a:effectLst/>
          </c:spPr>
          <c:marker>
            <c:symbol val="circle"/>
            <c:size val="8"/>
            <c:spPr>
              <a:solidFill>
                <a:srgbClr val="1F4D3A"/>
              </a:solidFill>
              <a:ln w="9525" cap="flat">
                <a:solidFill>
                  <a:srgbClr val="1F4D3A"/>
                </a:solidFill>
                <a:prstDash val="solid"/>
                <a:round/>
              </a:ln>
              <a:effectLst/>
            </c:spPr>
          </c:marker>
          <c:xVal>
            <c:numRef>
              <c:f>Sheet1!$A$2:$A$8</c:f>
              <c:numCache>
                <c:formatCode>General</c:formatCode>
                <c:ptCount val="7"/>
                <c:pt idx="0">
                  <c:v>0</c:v>
                </c:pt>
                <c:pt idx="1">
                  <c:v>5</c:v>
                </c:pt>
                <c:pt idx="2">
                  <c:v>10</c:v>
                </c:pt>
                <c:pt idx="3">
                  <c:v>20</c:v>
                </c:pt>
                <c:pt idx="4">
                  <c:v>30</c:v>
                </c:pt>
                <c:pt idx="5">
                  <c:v>50</c:v>
                </c:pt>
                <c:pt idx="6">
                  <c:v>100</c:v>
                </c:pt>
              </c:numCache>
            </c:numRef>
          </c:xVal>
          <c:yVal>
            <c:numRef>
              <c:f>Sheet1!$B$2:$B$8</c:f>
              <c:numCache>
                <c:formatCode>General</c:formatCode>
                <c:ptCount val="7"/>
                <c:pt idx="0">
                  <c:v>0</c:v>
                </c:pt>
                <c:pt idx="1">
                  <c:v>48</c:v>
                </c:pt>
                <c:pt idx="2">
                  <c:v>76</c:v>
                </c:pt>
                <c:pt idx="3">
                  <c:v>91</c:v>
                </c:pt>
                <c:pt idx="4">
                  <c:v>93</c:v>
                </c:pt>
                <c:pt idx="5">
                  <c:v>99</c:v>
                </c:pt>
                <c:pt idx="6">
                  <c:v>100</c:v>
                </c:pt>
              </c:numCache>
            </c:numRef>
          </c:yVal>
          <c:smooth val="0"/>
          <c:extLst>
            <c:ext xmlns:c16="http://schemas.microsoft.com/office/drawing/2014/chart" uri="{C3380CC4-5D6E-409C-BE32-E72D297353CC}">
              <c16:uniqueId val="{00000000-8CC5-4C38-A0E6-C0FCA9996182}"/>
            </c:ext>
          </c:extLst>
        </c:ser>
        <c:ser>
          <c:idx val="1"/>
          <c:order val="1"/>
          <c:tx>
            <c:strRef>
              <c:f>Sheet1!$C$1</c:f>
              <c:strCache>
                <c:ptCount val="1"/>
                <c:pt idx="0">
                  <c:v>Untargeted</c:v>
                </c:pt>
              </c:strCache>
            </c:strRef>
          </c:tx>
          <c:spPr>
            <a:ln w="38100" cap="flat">
              <a:solidFill>
                <a:srgbClr val="8A8D87"/>
              </a:solidFill>
              <a:prstDash val="solid"/>
              <a:round/>
            </a:ln>
            <a:effectLst/>
          </c:spPr>
          <c:marker>
            <c:symbol val="circle"/>
            <c:size val="8"/>
            <c:spPr>
              <a:solidFill>
                <a:srgbClr val="8A8D87"/>
              </a:solidFill>
              <a:ln w="9525" cap="flat">
                <a:solidFill>
                  <a:srgbClr val="8A8D87"/>
                </a:solidFill>
                <a:prstDash val="solid"/>
                <a:round/>
              </a:ln>
              <a:effectLst/>
            </c:spPr>
          </c:marker>
          <c:xVal>
            <c:numRef>
              <c:f>Sheet1!$A$2:$A$8</c:f>
              <c:numCache>
                <c:formatCode>General</c:formatCode>
                <c:ptCount val="7"/>
                <c:pt idx="0">
                  <c:v>0</c:v>
                </c:pt>
                <c:pt idx="1">
                  <c:v>5</c:v>
                </c:pt>
                <c:pt idx="2">
                  <c:v>10</c:v>
                </c:pt>
                <c:pt idx="3">
                  <c:v>20</c:v>
                </c:pt>
                <c:pt idx="4">
                  <c:v>30</c:v>
                </c:pt>
                <c:pt idx="5">
                  <c:v>50</c:v>
                </c:pt>
                <c:pt idx="6">
                  <c:v>100</c:v>
                </c:pt>
              </c:numCache>
            </c:numRef>
          </c:xVal>
          <c:yVal>
            <c:numRef>
              <c:f>Sheet1!$C$2:$C$8</c:f>
              <c:numCache>
                <c:formatCode>General</c:formatCode>
                <c:ptCount val="7"/>
                <c:pt idx="0">
                  <c:v>0</c:v>
                </c:pt>
                <c:pt idx="1">
                  <c:v>5</c:v>
                </c:pt>
                <c:pt idx="2">
                  <c:v>10</c:v>
                </c:pt>
                <c:pt idx="3">
                  <c:v>20</c:v>
                </c:pt>
                <c:pt idx="4">
                  <c:v>30</c:v>
                </c:pt>
                <c:pt idx="5">
                  <c:v>50</c:v>
                </c:pt>
                <c:pt idx="6">
                  <c:v>100</c:v>
                </c:pt>
              </c:numCache>
            </c:numRef>
          </c:yVal>
          <c:smooth val="0"/>
          <c:extLst>
            <c:ext xmlns:c16="http://schemas.microsoft.com/office/drawing/2014/chart" uri="{C3380CC4-5D6E-409C-BE32-E72D297353CC}">
              <c16:uniqueId val="{00000001-8CC5-4C38-A0E6-C0FCA9996182}"/>
            </c:ext>
          </c:extLst>
        </c:ser>
        <c:dLbls>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200" b="0" i="0" u="none" strike="noStrike">
                    <a:solidFill>
                      <a:srgbClr val="4A4F4B"/>
                    </a:solidFill>
                    <a:latin typeface="Arial"/>
                  </a:defRPr>
                </a:pPr>
                <a:r>
                  <a:rPr lang="en-US" sz="1200" b="0" i="0" u="none" strike="noStrike">
                    <a:solidFill>
                      <a:srgbClr val="4A4F4B"/>
                    </a:solidFill>
                    <a:latin typeface="Arial"/>
                  </a:rPr>
                  <a:t>% of active members contacted (highest risk first)</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300" b="0" i="0" u="none" strike="noStrike">
                <a:solidFill>
                  <a:srgbClr val="4A4F4B"/>
                </a:solidFill>
                <a:latin typeface="+mn-lt"/>
              </a:defRPr>
            </a:pPr>
            <a:endParaRPr lang="en-US"/>
          </a:p>
        </c:txPr>
        <c:crossAx val="2094734552"/>
        <c:crosses val="autoZero"/>
        <c:crossBetween val="midCat"/>
      </c:valAx>
      <c:valAx>
        <c:axId val="2094734552"/>
        <c:scaling>
          <c:orientation val="minMax"/>
          <c:max val="100"/>
          <c:min val="0"/>
        </c:scaling>
        <c:delete val="0"/>
        <c:axPos val="l"/>
        <c:majorGridlines>
          <c:spPr>
            <a:ln w="9525" cap="flat">
              <a:solidFill>
                <a:srgbClr val="E2E6E2"/>
              </a:solidFill>
              <a:prstDash val="solid"/>
              <a:round/>
            </a:ln>
          </c:spPr>
        </c:majorGridlines>
        <c:numFmt formatCode="0&quot;%&quot;"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4A4F4B"/>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3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868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numbers. Explain that results are on the official April-June 2024 label, which the model never saw during training or tuning.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issues were planted on purpose. The important one is leakage: three columns in the label table use information from the label window, so they are excluded. 232 members with no purchase before April are outside the churn definition and are not scored. Official label kept as source of truth; 9 disagree with activity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framing. A model scoring 0.99 on all members is mostly re-discovering that lapsed members stay lapsed. The real retention decision is about active members, where churn is under 10%. That is why I report both.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there is one official label, I rebuilt the same churn definition at earlier cutoffs from the activity table. Train on mid-2023, tune on December 2023, test once on the official label. No feature looks past the cutoff month.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Among active members churn climbs from 5% with no tickets to 27% with two. The 3+ group is small, so treat 74% as directional. Low app use is the strongest single engagement signal. These are correlations: disengaged members may be leaving for other reasons.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6-8. All members: LightGBM PR-AUC 0.99, F1 0.95, accuracy 0.96. Active members: PR-AUC 0.81, F1 0.75, top-decile lift 7.52x. The recency rule collapses on active members because they all bought recently. The prediction file has probability, label, risk band and top-3 drivers for all 2,368 members.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9. SHAP from LightGBM's exact TreeSHAP. Purchase frequency and app engagement dominate; support tickets are the strongest non-purchase signal after app and email. Demographics barely register; city is the only one in the top ten.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9, segment comparison. Blue is actual churn, orange is mean predicted risk, active members only. Retention should be targeted by behaviour and score, not by tier or city.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10. Same model and validation, different feature sets. On all members demographics alone get 0.73 only because tenure separates long-lapsed members. On active members they carry no signal.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11. The curve is measured on real outcomes, not simulated. The table is a what-if: I changed the features each action plausibly moves (tickets resolved, or one more coupon redeemed), re-scored, and only counted half the modelled effect as causal. Blanket coupons roughly break even; targeted ones return about four times their cost.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12. The holdout is the most important next step: the model shows who is at risk, but only a controlled test shows how much each action really saves.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Everything is reproducible: pip install -r requirements.txt, then python run_pipeline.py.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D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515600" cy="146304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611880"/>
            <a:ext cx="10515600" cy="1463040"/>
          </a:xfrm>
          <a:prstGeom prst="rect">
            <a:avLst/>
          </a:prstGeom>
          <a:noFill/>
          <a:ln/>
        </p:spPr>
        <p:txBody>
          <a:bodyPr wrap="square" rtlCol="0"/>
          <a:lstStyle>
            <a:lvl1pPr marL="0" indent="0">
              <a:buNone/>
              <a:defRPr lang="en-US" sz="2000" dirty="0">
                <a:solidFill>
                  <a:schemeClr val="bg2"/>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4572000" cy="274320"/>
          </a:xfrm>
          <a:prstGeom prst="rect">
            <a:avLst/>
          </a:prstGeom>
          <a:noFill/>
          <a:ln/>
        </p:spPr>
        <p:txBody>
          <a:bodyPr wrap="square" rtlCol="0" anchor="ctr"/>
          <a:lstStyle/>
          <a:p>
            <a:pPr marL="0" indent="0">
              <a:buNone/>
            </a:pPr>
            <a:r>
              <a:rPr lang="en-US" sz="1100" dirty="0">
                <a:solidFill>
                  <a:srgbClr val="8A8D87"/>
                </a:solidFill>
                <a:latin typeface="Calibri" pitchFamily="34" charset="0"/>
                <a:ea typeface="Calibri" pitchFamily="34" charset="-122"/>
                <a:cs typeface="Calibri" pitchFamily="34" charset="-120"/>
              </a:rPr>
              <a:t>FreshBasket loyalty churn</a:t>
            </a:r>
            <a:endParaRPr lang="en-US" sz="1100" dirty="0"/>
          </a:p>
        </p:txBody>
      </p:sp>
      <p:sp>
        <p:nvSpPr>
          <p:cNvPr id="3" name="Text 1"/>
          <p:cNvSpPr>
            <a:spLocks noGrp="1"/>
          </p:cNvSpPr>
          <p:nvPr>
            <p:ph type="title" idx="101" hasCustomPrompt="1"/>
          </p:nvPr>
        </p:nvSpPr>
        <p:spPr>
          <a:xfrm>
            <a:off x="548640" y="320040"/>
            <a:ext cx="11064240" cy="82296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515600" cy="1463040"/>
          </a:xfrm>
          <a:prstGeom prst="rect">
            <a:avLst/>
          </a:prstGeom>
          <a:noFill/>
          <a:ln/>
        </p:spPr>
        <p:txBody>
          <a:bodyPr wrap="square"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Who will leave FreshBasket next quarter?</a:t>
            </a:r>
            <a:endParaRPr lang="en-US" sz="4400" dirty="0"/>
          </a:p>
        </p:txBody>
      </p:sp>
      <p:sp>
        <p:nvSpPr>
          <p:cNvPr id="3" name="Text 0"/>
          <p:cNvSpPr>
            <a:spLocks noGrp="1"/>
          </p:cNvSpPr>
          <p:nvPr>
            <p:ph type="body" idx="101" hasCustomPrompt="1"/>
          </p:nvPr>
        </p:nvSpPr>
        <p:spPr>
          <a:xfrm>
            <a:off x="731520" y="3611880"/>
            <a:ext cx="10515600" cy="1463040"/>
          </a:xfrm>
          <a:prstGeom prst="rect">
            <a:avLst/>
          </a:prstGeom>
          <a:noFill/>
          <a:ln/>
        </p:spPr>
        <p:txBody>
          <a:bodyPr wrap="square" rtlCol="0" anchor="t"/>
          <a:lstStyle/>
          <a:p>
            <a:pPr marL="0" indent="0">
              <a:buNone/>
            </a:pPr>
            <a:r>
              <a:rPr lang="en-US" sz="2000" dirty="0">
                <a:solidFill>
                  <a:schemeClr val="bg2"/>
                </a:solidFill>
                <a:latin typeface="Calibri" pitchFamily="34" charset="0"/>
                <a:ea typeface="Calibri" pitchFamily="34" charset="-122"/>
                <a:cs typeface="Calibri" pitchFamily="34" charset="-120"/>
              </a:rPr>
              <a:t>Loyalty churn prediction and a cheaper way to retain members</a:t>
            </a:r>
            <a:endParaRPr lang="en-US" sz="2000" dirty="0"/>
          </a:p>
          <a:p>
            <a:pPr marL="0" indent="0">
              <a:buNone/>
            </a:pPr>
            <a:r>
              <a:rPr lang="en-US"/>
              <a:t>Shubiksha K</a:t>
            </a:r>
            <a:r>
              <a:rPr lang="en-US" sz="2000">
                <a:solidFill>
                  <a:schemeClr val="bg2"/>
                </a:solidFill>
                <a:latin typeface="Calibri" pitchFamily="34" charset="0"/>
                <a:ea typeface="Calibri" pitchFamily="34" charset="-122"/>
                <a:cs typeface="Calibri" pitchFamily="34" charset="-120"/>
              </a:rPr>
              <a:t>  </a:t>
            </a:r>
            <a:r>
              <a:rPr lang="en-US" sz="2000" dirty="0">
                <a:solidFill>
                  <a:schemeClr val="bg2"/>
                </a:solidFill>
                <a:latin typeface="Calibri" pitchFamily="34" charset="0"/>
                <a:ea typeface="Calibri" pitchFamily="34" charset="-122"/>
                <a:cs typeface="Calibri" pitchFamily="34" charset="-120"/>
              </a:rPr>
              <a:t>|  Propel Data Science Assessment 4</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Targeting beats blanket offers</a:t>
            </a:r>
            <a:endParaRPr lang="en-US" sz="3200" dirty="0"/>
          </a:p>
        </p:txBody>
      </p:sp>
      <p:sp>
        <p:nvSpPr>
          <p:cNvPr id="3" name="Text 1"/>
          <p:cNvSpPr txBox="1"/>
          <p:nvPr/>
        </p:nvSpPr>
        <p:spPr>
          <a:xfrm>
            <a:off x="548640" y="1234440"/>
            <a:ext cx="11064240" cy="548640"/>
          </a:xfrm>
          <a:prstGeom prst="rect">
            <a:avLst/>
          </a:prstGeom>
          <a:noFill/>
          <a:ln/>
        </p:spPr>
        <p:txBody>
          <a:bodyPr wrap="square" lIns="635" tIns="635" rIns="635" bIns="635" rtlCol="0" anchor="t"/>
          <a:lstStyle/>
          <a:p>
            <a:pPr marL="0" indent="0">
              <a:buNone/>
            </a:pPr>
            <a:r>
              <a:rPr lang="en-US" sz="1800" dirty="0">
                <a:solidFill>
                  <a:srgbClr val="4A4F4B"/>
                </a:solidFill>
                <a:latin typeface="Calibri" pitchFamily="34" charset="0"/>
                <a:ea typeface="Calibri" pitchFamily="34" charset="-122"/>
                <a:cs typeface="Calibri" pitchFamily="34" charset="-120"/>
              </a:rPr>
              <a:t>FreshBasket sends retention offers to every member. A churn score lets it spend only where risk is real.</a:t>
            </a:r>
            <a:endParaRPr lang="en-US" sz="1800" dirty="0"/>
          </a:p>
        </p:txBody>
      </p:sp>
      <p:sp>
        <p:nvSpPr>
          <p:cNvPr id="4" name="Shape 2"/>
          <p:cNvSpPr/>
          <p:nvPr/>
        </p:nvSpPr>
        <p:spPr>
          <a:xfrm>
            <a:off x="548640" y="2011680"/>
            <a:ext cx="3520440" cy="1600200"/>
          </a:xfrm>
          <a:prstGeom prst="roundRect">
            <a:avLst>
              <a:gd name="adj" fmla="val 6857"/>
            </a:avLst>
          </a:prstGeom>
          <a:solidFill>
            <a:srgbClr val="EEF3EF"/>
          </a:solidFill>
          <a:ln w="12700">
            <a:solidFill>
              <a:srgbClr val="EEF3EF"/>
            </a:solidFill>
            <a:prstDash val="solid"/>
          </a:ln>
        </p:spPr>
        <p:txBody>
          <a:bodyPr/>
          <a:lstStyle/>
          <a:p>
            <a:endParaRPr lang="en-IN"/>
          </a:p>
        </p:txBody>
      </p:sp>
      <p:sp>
        <p:nvSpPr>
          <p:cNvPr id="5" name="Text 3"/>
          <p:cNvSpPr txBox="1"/>
          <p:nvPr/>
        </p:nvSpPr>
        <p:spPr>
          <a:xfrm>
            <a:off x="777240" y="2148840"/>
            <a:ext cx="3063240" cy="777240"/>
          </a:xfrm>
          <a:prstGeom prst="rect">
            <a:avLst/>
          </a:prstGeom>
          <a:noFill/>
          <a:ln/>
        </p:spPr>
        <p:txBody>
          <a:bodyPr wrap="square" lIns="635" tIns="635" rIns="635" bIns="635" rtlCol="0" anchor="t"/>
          <a:lstStyle/>
          <a:p>
            <a:pPr marL="0" indent="0">
              <a:buNone/>
            </a:pPr>
            <a:r>
              <a:rPr lang="en-US" sz="4400" b="1" dirty="0">
                <a:solidFill>
                  <a:srgbClr val="E8603C"/>
                </a:solidFill>
                <a:latin typeface="Cambria" pitchFamily="34" charset="0"/>
                <a:ea typeface="Cambria" pitchFamily="34" charset="-122"/>
                <a:cs typeface="Cambria" pitchFamily="34" charset="-120"/>
              </a:rPr>
              <a:t>91%</a:t>
            </a:r>
            <a:endParaRPr lang="en-US" sz="4400" dirty="0"/>
          </a:p>
        </p:txBody>
      </p:sp>
      <p:sp>
        <p:nvSpPr>
          <p:cNvPr id="6" name="Text 4"/>
          <p:cNvSpPr txBox="1"/>
          <p:nvPr/>
        </p:nvSpPr>
        <p:spPr>
          <a:xfrm>
            <a:off x="777240" y="2926080"/>
            <a:ext cx="3063240" cy="640080"/>
          </a:xfrm>
          <a:prstGeom prst="rect">
            <a:avLst/>
          </a:prstGeom>
          <a:noFill/>
          <a:ln/>
        </p:spPr>
        <p:txBody>
          <a:bodyPr wrap="square" lIns="635" tIns="635" rIns="635" bIns="635" rtlCol="0" anchor="t"/>
          <a:lstStyle/>
          <a:p>
            <a:pPr marL="0" indent="0">
              <a:buNone/>
            </a:pPr>
            <a:r>
              <a:rPr lang="en-US" sz="1500" dirty="0">
                <a:solidFill>
                  <a:srgbClr val="1B2A22"/>
                </a:solidFill>
                <a:latin typeface="Calibri" pitchFamily="34" charset="0"/>
                <a:ea typeface="Calibri" pitchFamily="34" charset="-122"/>
                <a:cs typeface="Calibri" pitchFamily="34" charset="-120"/>
              </a:rPr>
              <a:t>of actual churners reached by contacting the riskiest 20% of active members</a:t>
            </a:r>
            <a:endParaRPr lang="en-US" sz="1500" dirty="0"/>
          </a:p>
        </p:txBody>
      </p:sp>
      <p:sp>
        <p:nvSpPr>
          <p:cNvPr id="7" name="Shape 5"/>
          <p:cNvSpPr/>
          <p:nvPr/>
        </p:nvSpPr>
        <p:spPr>
          <a:xfrm>
            <a:off x="4343400" y="2011680"/>
            <a:ext cx="3520440" cy="1600200"/>
          </a:xfrm>
          <a:prstGeom prst="roundRect">
            <a:avLst>
              <a:gd name="adj" fmla="val 6857"/>
            </a:avLst>
          </a:prstGeom>
          <a:solidFill>
            <a:srgbClr val="EEF3EF"/>
          </a:solidFill>
          <a:ln w="12700">
            <a:solidFill>
              <a:srgbClr val="EEF3EF"/>
            </a:solidFill>
            <a:prstDash val="solid"/>
          </a:ln>
        </p:spPr>
        <p:txBody>
          <a:bodyPr/>
          <a:lstStyle/>
          <a:p>
            <a:endParaRPr lang="en-IN"/>
          </a:p>
        </p:txBody>
      </p:sp>
      <p:sp>
        <p:nvSpPr>
          <p:cNvPr id="8" name="Text 6"/>
          <p:cNvSpPr txBox="1"/>
          <p:nvPr/>
        </p:nvSpPr>
        <p:spPr>
          <a:xfrm>
            <a:off x="4572000" y="2148840"/>
            <a:ext cx="3063240" cy="777240"/>
          </a:xfrm>
          <a:prstGeom prst="rect">
            <a:avLst/>
          </a:prstGeom>
          <a:noFill/>
          <a:ln/>
        </p:spPr>
        <p:txBody>
          <a:bodyPr wrap="square" lIns="635" tIns="635" rIns="635" bIns="635" rtlCol="0" anchor="t"/>
          <a:lstStyle/>
          <a:p>
            <a:pPr marL="0" indent="0">
              <a:buNone/>
            </a:pPr>
            <a:r>
              <a:rPr lang="en-US" sz="4400" b="1" dirty="0">
                <a:solidFill>
                  <a:srgbClr val="1F4D3A"/>
                </a:solidFill>
                <a:latin typeface="Cambria" pitchFamily="34" charset="0"/>
                <a:ea typeface="Cambria" pitchFamily="34" charset="-122"/>
                <a:cs typeface="Cambria" pitchFamily="34" charset="-120"/>
              </a:rPr>
              <a:t>0.81</a:t>
            </a:r>
            <a:endParaRPr lang="en-US" sz="4400" dirty="0"/>
          </a:p>
        </p:txBody>
      </p:sp>
      <p:sp>
        <p:nvSpPr>
          <p:cNvPr id="9" name="Text 7"/>
          <p:cNvSpPr txBox="1"/>
          <p:nvPr/>
        </p:nvSpPr>
        <p:spPr>
          <a:xfrm>
            <a:off x="4572000" y="2926080"/>
            <a:ext cx="3063240" cy="640080"/>
          </a:xfrm>
          <a:prstGeom prst="rect">
            <a:avLst/>
          </a:prstGeom>
          <a:noFill/>
          <a:ln/>
        </p:spPr>
        <p:txBody>
          <a:bodyPr wrap="square" lIns="635" tIns="635" rIns="635" bIns="635" rtlCol="0" anchor="t"/>
          <a:lstStyle/>
          <a:p>
            <a:pPr marL="0" indent="0">
              <a:buNone/>
            </a:pPr>
            <a:r>
              <a:rPr lang="en-US" sz="1500" dirty="0">
                <a:solidFill>
                  <a:srgbClr val="1B2A22"/>
                </a:solidFill>
                <a:latin typeface="Calibri" pitchFamily="34" charset="0"/>
                <a:ea typeface="Calibri" pitchFamily="34" charset="-122"/>
                <a:cs typeface="Calibri" pitchFamily="34" charset="-120"/>
              </a:rPr>
              <a:t>PR-AUC for active members on the held-out label (base rate 9.6%)</a:t>
            </a:r>
            <a:endParaRPr lang="en-US" sz="1500" dirty="0"/>
          </a:p>
        </p:txBody>
      </p:sp>
      <p:sp>
        <p:nvSpPr>
          <p:cNvPr id="10" name="Shape 8"/>
          <p:cNvSpPr/>
          <p:nvPr/>
        </p:nvSpPr>
        <p:spPr>
          <a:xfrm>
            <a:off x="8138160" y="2011680"/>
            <a:ext cx="3520440" cy="1600200"/>
          </a:xfrm>
          <a:prstGeom prst="roundRect">
            <a:avLst>
              <a:gd name="adj" fmla="val 6857"/>
            </a:avLst>
          </a:prstGeom>
          <a:solidFill>
            <a:srgbClr val="EEF3EF"/>
          </a:solidFill>
          <a:ln w="12700">
            <a:solidFill>
              <a:srgbClr val="EEF3EF"/>
            </a:solidFill>
            <a:prstDash val="solid"/>
          </a:ln>
        </p:spPr>
        <p:txBody>
          <a:bodyPr/>
          <a:lstStyle/>
          <a:p>
            <a:endParaRPr lang="en-IN"/>
          </a:p>
        </p:txBody>
      </p:sp>
      <p:sp>
        <p:nvSpPr>
          <p:cNvPr id="11" name="Text 9"/>
          <p:cNvSpPr txBox="1"/>
          <p:nvPr/>
        </p:nvSpPr>
        <p:spPr>
          <a:xfrm>
            <a:off x="8366760" y="2148840"/>
            <a:ext cx="3063240" cy="777240"/>
          </a:xfrm>
          <a:prstGeom prst="rect">
            <a:avLst/>
          </a:prstGeom>
          <a:noFill/>
          <a:ln/>
        </p:spPr>
        <p:txBody>
          <a:bodyPr wrap="square" lIns="635" tIns="635" rIns="635" bIns="635" rtlCol="0" anchor="t"/>
          <a:lstStyle/>
          <a:p>
            <a:pPr marL="0" indent="0">
              <a:buNone/>
            </a:pPr>
            <a:r>
              <a:rPr lang="en-US" sz="4400" b="1" dirty="0">
                <a:solidFill>
                  <a:srgbClr val="3B7EA1"/>
                </a:solidFill>
                <a:latin typeface="Cambria" pitchFamily="34" charset="0"/>
                <a:ea typeface="Cambria" pitchFamily="34" charset="-122"/>
                <a:cs typeface="Cambria" pitchFamily="34" charset="-120"/>
              </a:rPr>
              <a:t>1/5</a:t>
            </a:r>
            <a:endParaRPr lang="en-US" sz="4400" dirty="0"/>
          </a:p>
        </p:txBody>
      </p:sp>
      <p:sp>
        <p:nvSpPr>
          <p:cNvPr id="12" name="Text 10"/>
          <p:cNvSpPr txBox="1"/>
          <p:nvPr/>
        </p:nvSpPr>
        <p:spPr>
          <a:xfrm>
            <a:off x="8366760" y="2926080"/>
            <a:ext cx="3063240" cy="640080"/>
          </a:xfrm>
          <a:prstGeom prst="rect">
            <a:avLst/>
          </a:prstGeom>
          <a:noFill/>
          <a:ln/>
        </p:spPr>
        <p:txBody>
          <a:bodyPr wrap="square" lIns="635" tIns="635" rIns="635" bIns="635" rtlCol="0" anchor="t"/>
          <a:lstStyle/>
          <a:p>
            <a:pPr marL="0" indent="0">
              <a:buNone/>
            </a:pPr>
            <a:r>
              <a:rPr lang="en-US" sz="1500" dirty="0">
                <a:solidFill>
                  <a:srgbClr val="1B2A22"/>
                </a:solidFill>
                <a:latin typeface="Calibri" pitchFamily="34" charset="0"/>
                <a:ea typeface="Calibri" pitchFamily="34" charset="-122"/>
                <a:cs typeface="Calibri" pitchFamily="34" charset="-120"/>
              </a:rPr>
              <a:t>of the blanket-coupon cost for about the same number of members retained</a:t>
            </a:r>
            <a:endParaRPr lang="en-US" sz="1500" dirty="0"/>
          </a:p>
        </p:txBody>
      </p:sp>
      <p:sp>
        <p:nvSpPr>
          <p:cNvPr id="13" name="Text 11"/>
          <p:cNvSpPr txBox="1"/>
          <p:nvPr/>
        </p:nvSpPr>
        <p:spPr>
          <a:xfrm>
            <a:off x="548640" y="3931920"/>
            <a:ext cx="11064240" cy="2194560"/>
          </a:xfrm>
          <a:prstGeom prst="rect">
            <a:avLst/>
          </a:prstGeom>
          <a:noFill/>
          <a:ln/>
        </p:spPr>
        <p:txBody>
          <a:bodyPr wrap="square" rtlCol="0" anchor="t"/>
          <a:lstStyle/>
          <a:p>
            <a:pPr marL="0" indent="0">
              <a:spcAft>
                <a:spcPts val="1000"/>
              </a:spcAft>
              <a:buNone/>
            </a:pPr>
            <a:r>
              <a:rPr lang="en-US" sz="1700" b="1" dirty="0">
                <a:solidFill>
                  <a:srgbClr val="1B2A22"/>
                </a:solidFill>
                <a:latin typeface="Calibri" pitchFamily="34" charset="0"/>
                <a:ea typeface="Calibri" pitchFamily="34" charset="-122"/>
                <a:cs typeface="Calibri" pitchFamily="34" charset="-120"/>
              </a:rPr>
              <a:t>Most churn is visible early:</a:t>
            </a:r>
            <a:r>
              <a:rPr lang="en-US" sz="1700" dirty="0">
                <a:solidFill>
                  <a:srgbClr val="1B2A22"/>
                </a:solidFill>
                <a:latin typeface="Calibri" pitchFamily="34" charset="0"/>
                <a:ea typeface="Calibri" pitchFamily="34" charset="-122"/>
                <a:cs typeface="Calibri" pitchFamily="34" charset="-120"/>
              </a:rPr>
              <a:t> 80% of churners had already stopped buying before 2024</a:t>
            </a:r>
            <a:endParaRPr lang="en-US" sz="1700" dirty="0"/>
          </a:p>
          <a:p>
            <a:pPr marL="0" indent="0">
              <a:spcAft>
                <a:spcPts val="1000"/>
              </a:spcAft>
              <a:buNone/>
            </a:pPr>
            <a:r>
              <a:rPr lang="en-US" sz="1700" b="1" dirty="0">
                <a:solidFill>
                  <a:srgbClr val="1B2A22"/>
                </a:solidFill>
                <a:latin typeface="Calibri" pitchFamily="34" charset="0"/>
                <a:ea typeface="Calibri" pitchFamily="34" charset="-122"/>
                <a:cs typeface="Calibri" pitchFamily="34" charset="-120"/>
              </a:rPr>
              <a:t>Behaviour, not demographics:</a:t>
            </a:r>
            <a:r>
              <a:rPr lang="en-US" sz="1700" dirty="0">
                <a:solidFill>
                  <a:srgbClr val="1B2A22"/>
                </a:solidFill>
                <a:latin typeface="Calibri" pitchFamily="34" charset="0"/>
                <a:ea typeface="Calibri" pitchFamily="34" charset="-122"/>
                <a:cs typeface="Calibri" pitchFamily="34" charset="-120"/>
              </a:rPr>
              <a:t> app use, email opens, coupons, purchase momentum and support tickets drive risk</a:t>
            </a:r>
            <a:endParaRPr lang="en-US" sz="1700" dirty="0"/>
          </a:p>
          <a:p>
            <a:pPr marL="0" indent="0">
              <a:spcAft>
                <a:spcPts val="1000"/>
              </a:spcAft>
              <a:buNone/>
            </a:pPr>
            <a:r>
              <a:rPr lang="en-US" sz="1700" b="1" dirty="0">
                <a:solidFill>
                  <a:srgbClr val="1B2A22"/>
                </a:solidFill>
                <a:latin typeface="Calibri" pitchFamily="34" charset="0"/>
                <a:ea typeface="Calibri" pitchFamily="34" charset="-122"/>
                <a:cs typeface="Calibri" pitchFamily="34" charset="-120"/>
              </a:rPr>
              <a:t>Act:</a:t>
            </a:r>
            <a:r>
              <a:rPr lang="en-US" sz="1700" dirty="0">
                <a:solidFill>
                  <a:srgbClr val="1B2A22"/>
                </a:solidFill>
                <a:latin typeface="Calibri" pitchFamily="34" charset="0"/>
                <a:ea typeface="Calibri" pitchFamily="34" charset="-122"/>
                <a:cs typeface="Calibri" pitchFamily="34" charset="-120"/>
              </a:rPr>
              <a:t> monthly risk list, fix service issues first, coupons for the next tier, prove it with a holdout</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Data cleaned before modelling: every fix logged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589520" cy="3968496"/>
        </p:xfrm>
        <a:graphic>
          <a:graphicData uri="http://schemas.openxmlformats.org/drawingml/2006/table">
            <a:tbl>
              <a:tblPr/>
              <a:tblGrid>
                <a:gridCol w="1737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Issue</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1F4D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Found</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1F4D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1F4D3A"/>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Duplicates</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8 profile, 58 activity, 5 label rows; 2 conflicting customer-months</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Dropped</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Text casing</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104 cities and 104 tiers with stray case/whitespace</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Standardised</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Spend errors</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24 negative, 20 zero with purchases, 13 outliers up to 14.7x</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Rebuilt from transactions x basket</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Zero-purchase months</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1,452 months report categories bought with no purchase</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Categories set to 0</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Missing months</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953 gaps inside 769 member histories</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Treated as lost records</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EEF3EF"/>
                    </a:solidFill>
                  </a:tcPr>
                </a:tc>
                <a:extLst>
                  <a:ext uri="{0D108BD9-81ED-4DB2-BD59-A6C34878D82A}">
                    <a16:rowId xmlns:a16="http://schemas.microsoft.com/office/drawing/2014/main" val="10005"/>
                  </a:ext>
                </a:extLst>
              </a:tr>
              <a:tr h="566928">
                <a:tc>
                  <a:txBody>
                    <a:bodyPr/>
                    <a:lstStyle/>
                    <a:p>
                      <a:pPr marL="0" indent="0">
                        <a:buNone/>
                      </a:pPr>
                      <a:r>
                        <a:rPr lang="en-US" sz="1400" b="1" dirty="0">
                          <a:solidFill>
                            <a:srgbClr val="1B2A22"/>
                          </a:solidFill>
                          <a:latin typeface="Calibri" pitchFamily="34" charset="0"/>
                          <a:ea typeface="Calibri" pitchFamily="34" charset="-122"/>
                          <a:cs typeface="Calibri" pitchFamily="34" charset="-120"/>
                        </a:rPr>
                        <a:t>Missing values</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Age 78, gender 52, home-store price tier 130</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tc>
                  <a:txBody>
                    <a:bodyPr/>
                    <a:lstStyle/>
                    <a:p>
                      <a:pPr marL="0" indent="0">
                        <a:buNone/>
                      </a:pPr>
                      <a:r>
                        <a:rPr lang="en-US" sz="1400" dirty="0">
                          <a:solidFill>
                            <a:srgbClr val="1B2A22"/>
                          </a:solidFill>
                          <a:latin typeface="Calibri" pitchFamily="34" charset="0"/>
                          <a:ea typeface="Calibri" pitchFamily="34" charset="-122"/>
                          <a:cs typeface="Calibri" pitchFamily="34" charset="-120"/>
                        </a:rPr>
                        <a:t>Imputed / 'Unknown'</a:t>
                      </a:r>
                      <a:endParaRPr lang="en-US" sz="14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 name="Shape 1"/>
          <p:cNvSpPr/>
          <p:nvPr/>
        </p:nvSpPr>
        <p:spPr>
          <a:xfrm>
            <a:off x="8503920" y="1280160"/>
            <a:ext cx="3154680" cy="4526280"/>
          </a:xfrm>
          <a:prstGeom prst="roundRect">
            <a:avLst>
              <a:gd name="adj" fmla="val 3478"/>
            </a:avLst>
          </a:prstGeom>
          <a:solidFill>
            <a:srgbClr val="FBE9E3"/>
          </a:solidFill>
          <a:ln w="12700">
            <a:solidFill>
              <a:srgbClr val="FBE9E3"/>
            </a:solidFill>
            <a:prstDash val="solid"/>
          </a:ln>
        </p:spPr>
        <p:txBody>
          <a:bodyPr/>
          <a:lstStyle/>
          <a:p>
            <a:endParaRPr lang="en-IN"/>
          </a:p>
        </p:txBody>
      </p:sp>
      <p:sp>
        <p:nvSpPr>
          <p:cNvPr id="5" name="Text 2"/>
          <p:cNvSpPr txBox="1"/>
          <p:nvPr/>
        </p:nvSpPr>
        <p:spPr>
          <a:xfrm>
            <a:off x="8732520" y="1417320"/>
            <a:ext cx="2743200" cy="822960"/>
          </a:xfrm>
          <a:prstGeom prst="rect">
            <a:avLst/>
          </a:prstGeom>
          <a:noFill/>
          <a:ln/>
        </p:spPr>
        <p:txBody>
          <a:bodyPr wrap="square" lIns="635" tIns="635" rIns="635" bIns="635" rtlCol="0" anchor="t"/>
          <a:lstStyle/>
          <a:p>
            <a:pPr marL="0" indent="0">
              <a:buNone/>
            </a:pPr>
            <a:r>
              <a:rPr lang="en-US" sz="5400" b="1" dirty="0">
                <a:solidFill>
                  <a:srgbClr val="E8603C"/>
                </a:solidFill>
                <a:latin typeface="Cambria" pitchFamily="34" charset="0"/>
                <a:ea typeface="Cambria" pitchFamily="34" charset="-122"/>
                <a:cs typeface="Cambria" pitchFamily="34" charset="-120"/>
              </a:rPr>
              <a:t>3</a:t>
            </a:r>
            <a:endParaRPr lang="en-US" sz="5400" dirty="0"/>
          </a:p>
        </p:txBody>
      </p:sp>
      <p:sp>
        <p:nvSpPr>
          <p:cNvPr id="6" name="Text 3"/>
          <p:cNvSpPr txBox="1"/>
          <p:nvPr/>
        </p:nvSpPr>
        <p:spPr>
          <a:xfrm>
            <a:off x="8732520" y="2240280"/>
            <a:ext cx="2743200" cy="457200"/>
          </a:xfrm>
          <a:prstGeom prst="rect">
            <a:avLst/>
          </a:prstGeom>
          <a:noFill/>
          <a:ln/>
        </p:spPr>
        <p:txBody>
          <a:bodyPr wrap="square" lIns="635" tIns="635" rIns="635" bIns="635" rtlCol="0" anchor="t"/>
          <a:lstStyle/>
          <a:p>
            <a:pPr marL="0" indent="0">
              <a:buNone/>
            </a:pPr>
            <a:r>
              <a:rPr lang="en-US" sz="1700" b="1" dirty="0">
                <a:solidFill>
                  <a:srgbClr val="1B2A22"/>
                </a:solidFill>
                <a:latin typeface="Calibri" pitchFamily="34" charset="0"/>
                <a:ea typeface="Calibri" pitchFamily="34" charset="-122"/>
                <a:cs typeface="Calibri" pitchFamily="34" charset="-120"/>
              </a:rPr>
              <a:t>leaky label columns removed</a:t>
            </a:r>
            <a:endParaRPr lang="en-US" sz="1700" dirty="0"/>
          </a:p>
        </p:txBody>
      </p:sp>
      <p:sp>
        <p:nvSpPr>
          <p:cNvPr id="7" name="Text 4"/>
          <p:cNvSpPr txBox="1"/>
          <p:nvPr/>
        </p:nvSpPr>
        <p:spPr>
          <a:xfrm>
            <a:off x="8732520" y="2743200"/>
            <a:ext cx="2743200" cy="2926080"/>
          </a:xfrm>
          <a:prstGeom prst="rect">
            <a:avLst/>
          </a:prstGeom>
          <a:noFill/>
          <a:ln/>
        </p:spPr>
        <p:txBody>
          <a:bodyPr wrap="square" lIns="635" tIns="635" rIns="635" bIns="635" rtlCol="0" anchor="t"/>
          <a:lstStyle/>
          <a:p>
            <a:pPr marL="0" indent="0">
              <a:buNone/>
            </a:pPr>
            <a:r>
              <a:rPr lang="en-US" sz="1400" dirty="0">
                <a:solidFill>
                  <a:srgbClr val="4A4F4B"/>
                </a:solidFill>
                <a:latin typeface="Calibri" pitchFamily="34" charset="0"/>
                <a:ea typeface="Calibri" pitchFamily="34" charset="-122"/>
                <a:cs typeface="Calibri" pitchFamily="34" charset="-120"/>
              </a:rPr>
              <a:t>LAST_PURCHASE_DATE, MONTHS_OBSERVED and INSUFFICIENT_HISTORY_FLAG are calculated over Apr-Jun 2024. LAST_PURCHASE_DATE alone reproduces the label for every member who ever bought.</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Most churners had already gone quiet</a:t>
            </a:r>
            <a:endParaRPr lang="en-US" sz="3200" dirty="0"/>
          </a:p>
        </p:txBody>
      </p:sp>
      <p:graphicFrame>
        <p:nvGraphicFramePr>
          <p:cNvPr id="3" name="Chart 0"/>
          <p:cNvGraphicFramePr/>
          <p:nvPr/>
        </p:nvGraphicFramePr>
        <p:xfrm>
          <a:off x="548640" y="1280160"/>
          <a:ext cx="67665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680960" y="1371600"/>
            <a:ext cx="3977640" cy="1600200"/>
          </a:xfrm>
          <a:prstGeom prst="roundRect">
            <a:avLst>
              <a:gd name="adj" fmla="val 6857"/>
            </a:avLst>
          </a:prstGeom>
          <a:solidFill>
            <a:srgbClr val="EEF3EF"/>
          </a:solidFill>
          <a:ln w="12700">
            <a:solidFill>
              <a:srgbClr val="EEF3EF"/>
            </a:solidFill>
            <a:prstDash val="solid"/>
          </a:ln>
        </p:spPr>
        <p:txBody>
          <a:bodyPr/>
          <a:lstStyle/>
          <a:p>
            <a:endParaRPr lang="en-IN"/>
          </a:p>
        </p:txBody>
      </p:sp>
      <p:sp>
        <p:nvSpPr>
          <p:cNvPr id="5" name="Text 2"/>
          <p:cNvSpPr txBox="1"/>
          <p:nvPr/>
        </p:nvSpPr>
        <p:spPr>
          <a:xfrm>
            <a:off x="7909560" y="1508760"/>
            <a:ext cx="3520440" cy="777240"/>
          </a:xfrm>
          <a:prstGeom prst="rect">
            <a:avLst/>
          </a:prstGeom>
          <a:noFill/>
          <a:ln/>
        </p:spPr>
        <p:txBody>
          <a:bodyPr wrap="square" lIns="635" tIns="635" rIns="635" bIns="635" rtlCol="0" anchor="t"/>
          <a:lstStyle/>
          <a:p>
            <a:pPr marL="0" indent="0">
              <a:buNone/>
            </a:pPr>
            <a:r>
              <a:rPr lang="en-US" sz="4400" b="1" dirty="0">
                <a:solidFill>
                  <a:srgbClr val="8A8D87"/>
                </a:solidFill>
                <a:latin typeface="Cambria" pitchFamily="34" charset="0"/>
                <a:ea typeface="Cambria" pitchFamily="34" charset="-122"/>
                <a:cs typeface="Cambria" pitchFamily="34" charset="-120"/>
              </a:rPr>
              <a:t>80%</a:t>
            </a:r>
            <a:endParaRPr lang="en-US" sz="4400" dirty="0"/>
          </a:p>
        </p:txBody>
      </p:sp>
      <p:sp>
        <p:nvSpPr>
          <p:cNvPr id="6" name="Text 3"/>
          <p:cNvSpPr txBox="1"/>
          <p:nvPr/>
        </p:nvSpPr>
        <p:spPr>
          <a:xfrm>
            <a:off x="7909560" y="2286000"/>
            <a:ext cx="3520440" cy="640080"/>
          </a:xfrm>
          <a:prstGeom prst="rect">
            <a:avLst/>
          </a:prstGeom>
          <a:noFill/>
          <a:ln/>
        </p:spPr>
        <p:txBody>
          <a:bodyPr wrap="square" lIns="635" tIns="635" rIns="635" bIns="635" rtlCol="0" anchor="t"/>
          <a:lstStyle/>
          <a:p>
            <a:pPr marL="0" indent="0">
              <a:buNone/>
            </a:pPr>
            <a:r>
              <a:rPr lang="en-US" sz="1500" dirty="0">
                <a:solidFill>
                  <a:srgbClr val="1B2A22"/>
                </a:solidFill>
                <a:latin typeface="Calibri" pitchFamily="34" charset="0"/>
                <a:ea typeface="Calibri" pitchFamily="34" charset="-122"/>
                <a:cs typeface="Calibri" pitchFamily="34" charset="-120"/>
              </a:rPr>
              <a:t>of churners made their last purchase before 2024: recency alone flags them</a:t>
            </a:r>
            <a:endParaRPr lang="en-US" sz="1500" dirty="0"/>
          </a:p>
        </p:txBody>
      </p:sp>
      <p:sp>
        <p:nvSpPr>
          <p:cNvPr id="7" name="Shape 4"/>
          <p:cNvSpPr/>
          <p:nvPr/>
        </p:nvSpPr>
        <p:spPr>
          <a:xfrm>
            <a:off x="7680960" y="3200400"/>
            <a:ext cx="3977640" cy="1600200"/>
          </a:xfrm>
          <a:prstGeom prst="roundRect">
            <a:avLst>
              <a:gd name="adj" fmla="val 6857"/>
            </a:avLst>
          </a:prstGeom>
          <a:solidFill>
            <a:srgbClr val="EEF3EF"/>
          </a:solidFill>
          <a:ln w="12700">
            <a:solidFill>
              <a:srgbClr val="EEF3EF"/>
            </a:solidFill>
            <a:prstDash val="solid"/>
          </a:ln>
        </p:spPr>
        <p:txBody>
          <a:bodyPr/>
          <a:lstStyle/>
          <a:p>
            <a:endParaRPr lang="en-IN"/>
          </a:p>
        </p:txBody>
      </p:sp>
      <p:sp>
        <p:nvSpPr>
          <p:cNvPr id="8" name="Text 5"/>
          <p:cNvSpPr txBox="1"/>
          <p:nvPr/>
        </p:nvSpPr>
        <p:spPr>
          <a:xfrm>
            <a:off x="7909560" y="3337560"/>
            <a:ext cx="3520440" cy="777240"/>
          </a:xfrm>
          <a:prstGeom prst="rect">
            <a:avLst/>
          </a:prstGeom>
          <a:noFill/>
          <a:ln/>
        </p:spPr>
        <p:txBody>
          <a:bodyPr wrap="square" lIns="635" tIns="635" rIns="635" bIns="635" rtlCol="0" anchor="t"/>
          <a:lstStyle/>
          <a:p>
            <a:pPr marL="0" indent="0">
              <a:buNone/>
            </a:pPr>
            <a:r>
              <a:rPr lang="en-US" sz="4400" b="1" dirty="0">
                <a:solidFill>
                  <a:srgbClr val="E8603C"/>
                </a:solidFill>
                <a:latin typeface="Cambria" pitchFamily="34" charset="0"/>
                <a:ea typeface="Cambria" pitchFamily="34" charset="-122"/>
                <a:cs typeface="Cambria" pitchFamily="34" charset="-120"/>
              </a:rPr>
              <a:t>9.6%</a:t>
            </a:r>
            <a:endParaRPr lang="en-US" sz="4400" dirty="0"/>
          </a:p>
        </p:txBody>
      </p:sp>
      <p:sp>
        <p:nvSpPr>
          <p:cNvPr id="9" name="Text 6"/>
          <p:cNvSpPr txBox="1"/>
          <p:nvPr/>
        </p:nvSpPr>
        <p:spPr>
          <a:xfrm>
            <a:off x="7909560" y="4114800"/>
            <a:ext cx="3520440" cy="640080"/>
          </a:xfrm>
          <a:prstGeom prst="rect">
            <a:avLst/>
          </a:prstGeom>
          <a:noFill/>
          <a:ln/>
        </p:spPr>
        <p:txBody>
          <a:bodyPr wrap="square" lIns="635" tIns="635" rIns="635" bIns="635" rtlCol="0" anchor="t"/>
          <a:lstStyle/>
          <a:p>
            <a:pPr marL="0" indent="0">
              <a:buNone/>
            </a:pPr>
            <a:r>
              <a:rPr lang="en-US" sz="1500" dirty="0">
                <a:solidFill>
                  <a:srgbClr val="1B2A22"/>
                </a:solidFill>
                <a:latin typeface="Calibri" pitchFamily="34" charset="0"/>
                <a:ea typeface="Calibri" pitchFamily="34" charset="-122"/>
                <a:cs typeface="Calibri" pitchFamily="34" charset="-120"/>
              </a:rPr>
              <a:t>churn among the 1,715 members still buying in Jan-Mar 2024</a:t>
            </a:r>
            <a:endParaRPr lang="en-US" sz="1500" dirty="0"/>
          </a:p>
        </p:txBody>
      </p:sp>
      <p:sp>
        <p:nvSpPr>
          <p:cNvPr id="10" name="Text 7"/>
          <p:cNvSpPr txBox="1"/>
          <p:nvPr/>
        </p:nvSpPr>
        <p:spPr>
          <a:xfrm>
            <a:off x="7680960" y="4983480"/>
            <a:ext cx="3977640" cy="1097280"/>
          </a:xfrm>
          <a:prstGeom prst="rect">
            <a:avLst/>
          </a:prstGeom>
          <a:noFill/>
          <a:ln/>
        </p:spPr>
        <p:txBody>
          <a:bodyPr wrap="square" lIns="635" tIns="635" rIns="635" bIns="635" rtlCol="0" anchor="t"/>
          <a:lstStyle/>
          <a:p>
            <a:pPr marL="0" indent="0">
              <a:buNone/>
            </a:pPr>
            <a:r>
              <a:rPr lang="en-US" sz="1600" i="1" dirty="0">
                <a:solidFill>
                  <a:srgbClr val="1F4D3A"/>
                </a:solidFill>
                <a:latin typeface="Calibri" pitchFamily="34" charset="0"/>
                <a:ea typeface="Calibri" pitchFamily="34" charset="-122"/>
                <a:cs typeface="Calibri" pitchFamily="34" charset="-120"/>
              </a:rPr>
              <a:t>Every result is reported for both groups. Active members are where a model earns its keep.</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Validated on the future, never a random split</a:t>
            </a:r>
            <a:endParaRPr lang="en-US" sz="3200" dirty="0"/>
          </a:p>
        </p:txBody>
      </p:sp>
      <p:sp>
        <p:nvSpPr>
          <p:cNvPr id="3" name="Shape 1"/>
          <p:cNvSpPr/>
          <p:nvPr/>
        </p:nvSpPr>
        <p:spPr>
          <a:xfrm>
            <a:off x="548640" y="1463040"/>
            <a:ext cx="2560320" cy="1920240"/>
          </a:xfrm>
          <a:prstGeom prst="roundRect">
            <a:avLst>
              <a:gd name="adj" fmla="val 5714"/>
            </a:avLst>
          </a:prstGeom>
          <a:solidFill>
            <a:srgbClr val="7FA86B"/>
          </a:solidFill>
          <a:ln w="12700">
            <a:solidFill>
              <a:srgbClr val="7FA86B"/>
            </a:solidFill>
            <a:prstDash val="solid"/>
          </a:ln>
        </p:spPr>
        <p:txBody>
          <a:bodyPr/>
          <a:lstStyle/>
          <a:p>
            <a:endParaRPr lang="en-IN"/>
          </a:p>
        </p:txBody>
      </p:sp>
      <p:sp>
        <p:nvSpPr>
          <p:cNvPr id="4" name="Text 2"/>
          <p:cNvSpPr txBox="1"/>
          <p:nvPr/>
        </p:nvSpPr>
        <p:spPr>
          <a:xfrm>
            <a:off x="731520" y="1572768"/>
            <a:ext cx="2194560" cy="457200"/>
          </a:xfrm>
          <a:prstGeom prst="rect">
            <a:avLst/>
          </a:prstGeom>
          <a:noFill/>
          <a:ln/>
        </p:spPr>
        <p:txBody>
          <a:bodyPr wrap="square" lIns="635" tIns="635" rIns="635" bIns="635"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Train</a:t>
            </a:r>
            <a:endParaRPr lang="en-US" sz="2000" dirty="0"/>
          </a:p>
        </p:txBody>
      </p:sp>
      <p:sp>
        <p:nvSpPr>
          <p:cNvPr id="5" name="Text 3"/>
          <p:cNvSpPr txBox="1"/>
          <p:nvPr/>
        </p:nvSpPr>
        <p:spPr>
          <a:xfrm>
            <a:off x="731520" y="2057400"/>
            <a:ext cx="2194560" cy="411480"/>
          </a:xfrm>
          <a:prstGeom prst="rect">
            <a:avLst/>
          </a:prstGeom>
          <a:noFill/>
          <a:ln/>
        </p:spPr>
        <p:txBody>
          <a:bodyPr wrap="square" lIns="635" tIns="635" rIns="635" bIns="635" rtlCol="0" anchor="t"/>
          <a:lstStyle/>
          <a:p>
            <a:pPr marL="0" indent="0">
              <a:buNone/>
            </a:pPr>
            <a:r>
              <a:rPr lang="en-US" sz="1500" dirty="0">
                <a:solidFill>
                  <a:srgbClr val="FFFFFF"/>
                </a:solidFill>
                <a:latin typeface="Calibri" pitchFamily="34" charset="0"/>
                <a:ea typeface="Calibri" pitchFamily="34" charset="-122"/>
                <a:cs typeface="Calibri" pitchFamily="34" charset="-120"/>
              </a:rPr>
              <a:t>features to Jun 2023</a:t>
            </a:r>
            <a:endParaRPr lang="en-US" sz="1500" dirty="0"/>
          </a:p>
        </p:txBody>
      </p:sp>
      <p:sp>
        <p:nvSpPr>
          <p:cNvPr id="6" name="Text 4"/>
          <p:cNvSpPr txBox="1"/>
          <p:nvPr/>
        </p:nvSpPr>
        <p:spPr>
          <a:xfrm>
            <a:off x="731520" y="2468880"/>
            <a:ext cx="2194560" cy="822960"/>
          </a:xfrm>
          <a:prstGeom prst="rect">
            <a:avLst/>
          </a:prstGeom>
          <a:noFill/>
          <a:ln/>
        </p:spPr>
        <p:txBody>
          <a:bodyPr wrap="square" lIns="635" tIns="635" rIns="635" bIns="635" rtlCol="0" anchor="t"/>
          <a:lstStyle/>
          <a:p>
            <a:pPr marL="0" indent="0">
              <a:buNone/>
            </a:pPr>
            <a:r>
              <a:rPr lang="en-US" sz="1400" dirty="0">
                <a:solidFill>
                  <a:srgbClr val="FFFFFF"/>
                </a:solidFill>
                <a:latin typeface="Calibri" pitchFamily="34" charset="0"/>
                <a:ea typeface="Calibri" pitchFamily="34" charset="-122"/>
                <a:cs typeface="Calibri" pitchFamily="34" charset="-120"/>
              </a:rPr>
              <a:t>label Jul-Sep 2023</a:t>
            </a:r>
            <a:endParaRPr lang="en-US" sz="1400" dirty="0"/>
          </a:p>
        </p:txBody>
      </p:sp>
      <p:sp>
        <p:nvSpPr>
          <p:cNvPr id="7" name="Shape 5"/>
          <p:cNvSpPr/>
          <p:nvPr/>
        </p:nvSpPr>
        <p:spPr>
          <a:xfrm>
            <a:off x="3154680" y="2286000"/>
            <a:ext cx="182880" cy="274320"/>
          </a:xfrm>
          <a:prstGeom prst="rtTriangle">
            <a:avLst/>
          </a:prstGeom>
          <a:solidFill>
            <a:srgbClr val="B8C2BA"/>
          </a:solidFill>
          <a:ln w="12700">
            <a:solidFill>
              <a:srgbClr val="B8C2BA"/>
            </a:solidFill>
            <a:prstDash val="solid"/>
          </a:ln>
        </p:spPr>
        <p:txBody>
          <a:bodyPr/>
          <a:lstStyle/>
          <a:p>
            <a:endParaRPr lang="en-IN"/>
          </a:p>
        </p:txBody>
      </p:sp>
      <p:sp>
        <p:nvSpPr>
          <p:cNvPr id="8" name="Shape 6"/>
          <p:cNvSpPr/>
          <p:nvPr/>
        </p:nvSpPr>
        <p:spPr>
          <a:xfrm>
            <a:off x="3383280" y="1463040"/>
            <a:ext cx="2560320" cy="1920240"/>
          </a:xfrm>
          <a:prstGeom prst="roundRect">
            <a:avLst>
              <a:gd name="adj" fmla="val 5714"/>
            </a:avLst>
          </a:prstGeom>
          <a:solidFill>
            <a:srgbClr val="7FA86B"/>
          </a:solidFill>
          <a:ln w="12700">
            <a:solidFill>
              <a:srgbClr val="7FA86B"/>
            </a:solidFill>
            <a:prstDash val="solid"/>
          </a:ln>
        </p:spPr>
        <p:txBody>
          <a:bodyPr/>
          <a:lstStyle/>
          <a:p>
            <a:endParaRPr lang="en-IN"/>
          </a:p>
        </p:txBody>
      </p:sp>
      <p:sp>
        <p:nvSpPr>
          <p:cNvPr id="9" name="Text 7"/>
          <p:cNvSpPr txBox="1"/>
          <p:nvPr/>
        </p:nvSpPr>
        <p:spPr>
          <a:xfrm>
            <a:off x="3566160" y="1572768"/>
            <a:ext cx="2194560" cy="457200"/>
          </a:xfrm>
          <a:prstGeom prst="rect">
            <a:avLst/>
          </a:prstGeom>
          <a:noFill/>
          <a:ln/>
        </p:spPr>
        <p:txBody>
          <a:bodyPr wrap="square" lIns="635" tIns="635" rIns="635" bIns="635"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Train</a:t>
            </a:r>
            <a:endParaRPr lang="en-US" sz="2000" dirty="0"/>
          </a:p>
        </p:txBody>
      </p:sp>
      <p:sp>
        <p:nvSpPr>
          <p:cNvPr id="10" name="Text 8"/>
          <p:cNvSpPr txBox="1"/>
          <p:nvPr/>
        </p:nvSpPr>
        <p:spPr>
          <a:xfrm>
            <a:off x="3566160" y="2057400"/>
            <a:ext cx="2194560" cy="411480"/>
          </a:xfrm>
          <a:prstGeom prst="rect">
            <a:avLst/>
          </a:prstGeom>
          <a:noFill/>
          <a:ln/>
        </p:spPr>
        <p:txBody>
          <a:bodyPr wrap="square" lIns="635" tIns="635" rIns="635" bIns="635" rtlCol="0" anchor="t"/>
          <a:lstStyle/>
          <a:p>
            <a:pPr marL="0" indent="0">
              <a:buNone/>
            </a:pPr>
            <a:r>
              <a:rPr lang="en-US" sz="1500" dirty="0">
                <a:solidFill>
                  <a:srgbClr val="FFFFFF"/>
                </a:solidFill>
                <a:latin typeface="Calibri" pitchFamily="34" charset="0"/>
                <a:ea typeface="Calibri" pitchFamily="34" charset="-122"/>
                <a:cs typeface="Calibri" pitchFamily="34" charset="-120"/>
              </a:rPr>
              <a:t>features to Sep 2023</a:t>
            </a:r>
            <a:endParaRPr lang="en-US" sz="1500" dirty="0"/>
          </a:p>
        </p:txBody>
      </p:sp>
      <p:sp>
        <p:nvSpPr>
          <p:cNvPr id="11" name="Text 9"/>
          <p:cNvSpPr txBox="1"/>
          <p:nvPr/>
        </p:nvSpPr>
        <p:spPr>
          <a:xfrm>
            <a:off x="3566160" y="2468880"/>
            <a:ext cx="2194560" cy="822960"/>
          </a:xfrm>
          <a:prstGeom prst="rect">
            <a:avLst/>
          </a:prstGeom>
          <a:noFill/>
          <a:ln/>
        </p:spPr>
        <p:txBody>
          <a:bodyPr wrap="square" lIns="635" tIns="635" rIns="635" bIns="635" rtlCol="0" anchor="t"/>
          <a:lstStyle/>
          <a:p>
            <a:pPr marL="0" indent="0">
              <a:buNone/>
            </a:pPr>
            <a:r>
              <a:rPr lang="en-US" sz="1400" dirty="0">
                <a:solidFill>
                  <a:srgbClr val="FFFFFF"/>
                </a:solidFill>
                <a:latin typeface="Calibri" pitchFamily="34" charset="0"/>
                <a:ea typeface="Calibri" pitchFamily="34" charset="-122"/>
                <a:cs typeface="Calibri" pitchFamily="34" charset="-120"/>
              </a:rPr>
              <a:t>label Oct-Dec 2023</a:t>
            </a:r>
            <a:endParaRPr lang="en-US" sz="1400" dirty="0"/>
          </a:p>
        </p:txBody>
      </p:sp>
      <p:sp>
        <p:nvSpPr>
          <p:cNvPr id="12" name="Shape 10"/>
          <p:cNvSpPr/>
          <p:nvPr/>
        </p:nvSpPr>
        <p:spPr>
          <a:xfrm>
            <a:off x="5989320" y="2286000"/>
            <a:ext cx="182880" cy="274320"/>
          </a:xfrm>
          <a:prstGeom prst="rtTriangle">
            <a:avLst/>
          </a:prstGeom>
          <a:solidFill>
            <a:srgbClr val="B8C2BA"/>
          </a:solidFill>
          <a:ln w="12700">
            <a:solidFill>
              <a:srgbClr val="B8C2BA"/>
            </a:solidFill>
            <a:prstDash val="solid"/>
          </a:ln>
        </p:spPr>
        <p:txBody>
          <a:bodyPr/>
          <a:lstStyle/>
          <a:p>
            <a:endParaRPr lang="en-IN"/>
          </a:p>
        </p:txBody>
      </p:sp>
      <p:sp>
        <p:nvSpPr>
          <p:cNvPr id="13" name="Shape 11"/>
          <p:cNvSpPr/>
          <p:nvPr/>
        </p:nvSpPr>
        <p:spPr>
          <a:xfrm>
            <a:off x="6217920" y="1463040"/>
            <a:ext cx="2560320" cy="1920240"/>
          </a:xfrm>
          <a:prstGeom prst="roundRect">
            <a:avLst>
              <a:gd name="adj" fmla="val 5714"/>
            </a:avLst>
          </a:prstGeom>
          <a:solidFill>
            <a:srgbClr val="3B7EA1"/>
          </a:solidFill>
          <a:ln w="12700">
            <a:solidFill>
              <a:srgbClr val="3B7EA1"/>
            </a:solidFill>
            <a:prstDash val="solid"/>
          </a:ln>
        </p:spPr>
        <p:txBody>
          <a:bodyPr/>
          <a:lstStyle/>
          <a:p>
            <a:endParaRPr lang="en-IN"/>
          </a:p>
        </p:txBody>
      </p:sp>
      <p:sp>
        <p:nvSpPr>
          <p:cNvPr id="14" name="Text 12"/>
          <p:cNvSpPr txBox="1"/>
          <p:nvPr/>
        </p:nvSpPr>
        <p:spPr>
          <a:xfrm>
            <a:off x="6400800" y="1572768"/>
            <a:ext cx="2194560" cy="457200"/>
          </a:xfrm>
          <a:prstGeom prst="rect">
            <a:avLst/>
          </a:prstGeom>
          <a:noFill/>
          <a:ln/>
        </p:spPr>
        <p:txBody>
          <a:bodyPr wrap="square" lIns="635" tIns="635" rIns="635" bIns="635"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Validate</a:t>
            </a:r>
            <a:endParaRPr lang="en-US" sz="2000" dirty="0"/>
          </a:p>
        </p:txBody>
      </p:sp>
      <p:sp>
        <p:nvSpPr>
          <p:cNvPr id="15" name="Text 13"/>
          <p:cNvSpPr txBox="1"/>
          <p:nvPr/>
        </p:nvSpPr>
        <p:spPr>
          <a:xfrm>
            <a:off x="6400800" y="2057400"/>
            <a:ext cx="2194560" cy="411480"/>
          </a:xfrm>
          <a:prstGeom prst="rect">
            <a:avLst/>
          </a:prstGeom>
          <a:noFill/>
          <a:ln/>
        </p:spPr>
        <p:txBody>
          <a:bodyPr wrap="square" lIns="635" tIns="635" rIns="635" bIns="635" rtlCol="0" anchor="t"/>
          <a:lstStyle/>
          <a:p>
            <a:pPr marL="0" indent="0">
              <a:buNone/>
            </a:pPr>
            <a:r>
              <a:rPr lang="en-US" sz="1500" dirty="0">
                <a:solidFill>
                  <a:srgbClr val="FFFFFF"/>
                </a:solidFill>
                <a:latin typeface="Calibri" pitchFamily="34" charset="0"/>
                <a:ea typeface="Calibri" pitchFamily="34" charset="-122"/>
                <a:cs typeface="Calibri" pitchFamily="34" charset="-120"/>
              </a:rPr>
              <a:t>features to Dec 2023</a:t>
            </a:r>
            <a:endParaRPr lang="en-US" sz="1500" dirty="0"/>
          </a:p>
        </p:txBody>
      </p:sp>
      <p:sp>
        <p:nvSpPr>
          <p:cNvPr id="16" name="Text 14"/>
          <p:cNvSpPr txBox="1"/>
          <p:nvPr/>
        </p:nvSpPr>
        <p:spPr>
          <a:xfrm>
            <a:off x="6400800" y="2468880"/>
            <a:ext cx="2194560" cy="822960"/>
          </a:xfrm>
          <a:prstGeom prst="rect">
            <a:avLst/>
          </a:prstGeom>
          <a:noFill/>
          <a:ln/>
        </p:spPr>
        <p:txBody>
          <a:bodyPr wrap="square" lIns="635" tIns="635" rIns="635" bIns="635" rtlCol="0" anchor="t"/>
          <a:lstStyle/>
          <a:p>
            <a:pPr marL="0" indent="0">
              <a:buNone/>
            </a:pPr>
            <a:r>
              <a:rPr lang="en-US" sz="1400" dirty="0">
                <a:solidFill>
                  <a:srgbClr val="FFFFFF"/>
                </a:solidFill>
                <a:latin typeface="Calibri" pitchFamily="34" charset="0"/>
                <a:ea typeface="Calibri" pitchFamily="34" charset="-122"/>
                <a:cs typeface="Calibri" pitchFamily="34" charset="-120"/>
              </a:rPr>
              <a:t>label Jan-Mar 2024</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model + threshold chosen</a:t>
            </a:r>
            <a:endParaRPr lang="en-US" sz="1400" dirty="0"/>
          </a:p>
        </p:txBody>
      </p:sp>
      <p:sp>
        <p:nvSpPr>
          <p:cNvPr id="17" name="Shape 15"/>
          <p:cNvSpPr/>
          <p:nvPr/>
        </p:nvSpPr>
        <p:spPr>
          <a:xfrm>
            <a:off x="8823960" y="2286000"/>
            <a:ext cx="182880" cy="274320"/>
          </a:xfrm>
          <a:prstGeom prst="rtTriangle">
            <a:avLst/>
          </a:prstGeom>
          <a:solidFill>
            <a:srgbClr val="B8C2BA"/>
          </a:solidFill>
          <a:ln w="12700">
            <a:solidFill>
              <a:srgbClr val="B8C2BA"/>
            </a:solidFill>
            <a:prstDash val="solid"/>
          </a:ln>
        </p:spPr>
        <p:txBody>
          <a:bodyPr/>
          <a:lstStyle/>
          <a:p>
            <a:endParaRPr lang="en-IN"/>
          </a:p>
        </p:txBody>
      </p:sp>
      <p:sp>
        <p:nvSpPr>
          <p:cNvPr id="18" name="Shape 16"/>
          <p:cNvSpPr/>
          <p:nvPr/>
        </p:nvSpPr>
        <p:spPr>
          <a:xfrm>
            <a:off x="9052560" y="1463040"/>
            <a:ext cx="2560320" cy="1920240"/>
          </a:xfrm>
          <a:prstGeom prst="roundRect">
            <a:avLst>
              <a:gd name="adj" fmla="val 5714"/>
            </a:avLst>
          </a:prstGeom>
          <a:solidFill>
            <a:srgbClr val="E8603C"/>
          </a:solidFill>
          <a:ln w="12700">
            <a:solidFill>
              <a:srgbClr val="E8603C"/>
            </a:solidFill>
            <a:prstDash val="solid"/>
          </a:ln>
        </p:spPr>
        <p:txBody>
          <a:bodyPr/>
          <a:lstStyle/>
          <a:p>
            <a:endParaRPr lang="en-IN"/>
          </a:p>
        </p:txBody>
      </p:sp>
      <p:sp>
        <p:nvSpPr>
          <p:cNvPr id="19" name="Text 17"/>
          <p:cNvSpPr txBox="1"/>
          <p:nvPr/>
        </p:nvSpPr>
        <p:spPr>
          <a:xfrm>
            <a:off x="9235440" y="1572768"/>
            <a:ext cx="2194560" cy="457200"/>
          </a:xfrm>
          <a:prstGeom prst="rect">
            <a:avLst/>
          </a:prstGeom>
          <a:noFill/>
          <a:ln/>
        </p:spPr>
        <p:txBody>
          <a:bodyPr wrap="square" lIns="635" tIns="635" rIns="635" bIns="635"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Test</a:t>
            </a:r>
            <a:endParaRPr lang="en-US" sz="2000" dirty="0"/>
          </a:p>
        </p:txBody>
      </p:sp>
      <p:sp>
        <p:nvSpPr>
          <p:cNvPr id="20" name="Text 18"/>
          <p:cNvSpPr txBox="1"/>
          <p:nvPr/>
        </p:nvSpPr>
        <p:spPr>
          <a:xfrm>
            <a:off x="9235440" y="2057400"/>
            <a:ext cx="2194560" cy="411480"/>
          </a:xfrm>
          <a:prstGeom prst="rect">
            <a:avLst/>
          </a:prstGeom>
          <a:noFill/>
          <a:ln/>
        </p:spPr>
        <p:txBody>
          <a:bodyPr wrap="square" lIns="635" tIns="635" rIns="635" bIns="635" rtlCol="0" anchor="t"/>
          <a:lstStyle/>
          <a:p>
            <a:pPr marL="0" indent="0">
              <a:buNone/>
            </a:pPr>
            <a:r>
              <a:rPr lang="en-US" sz="1500" dirty="0">
                <a:solidFill>
                  <a:srgbClr val="FFFFFF"/>
                </a:solidFill>
                <a:latin typeface="Calibri" pitchFamily="34" charset="0"/>
                <a:ea typeface="Calibri" pitchFamily="34" charset="-122"/>
                <a:cs typeface="Calibri" pitchFamily="34" charset="-120"/>
              </a:rPr>
              <a:t>features to Mar 2024</a:t>
            </a:r>
            <a:endParaRPr lang="en-US" sz="1500" dirty="0"/>
          </a:p>
        </p:txBody>
      </p:sp>
      <p:sp>
        <p:nvSpPr>
          <p:cNvPr id="21" name="Text 19"/>
          <p:cNvSpPr txBox="1"/>
          <p:nvPr/>
        </p:nvSpPr>
        <p:spPr>
          <a:xfrm>
            <a:off x="9235440" y="2468880"/>
            <a:ext cx="2194560" cy="822960"/>
          </a:xfrm>
          <a:prstGeom prst="rect">
            <a:avLst/>
          </a:prstGeom>
          <a:noFill/>
          <a:ln/>
        </p:spPr>
        <p:txBody>
          <a:bodyPr wrap="square" lIns="635" tIns="635" rIns="635" bIns="635" rtlCol="0" anchor="t"/>
          <a:lstStyle/>
          <a:p>
            <a:pPr marL="0" indent="0">
              <a:buNone/>
            </a:pPr>
            <a:r>
              <a:rPr lang="en-US" sz="1400" dirty="0">
                <a:solidFill>
                  <a:srgbClr val="FFFFFF"/>
                </a:solidFill>
                <a:latin typeface="Calibri" pitchFamily="34" charset="0"/>
                <a:ea typeface="Calibri" pitchFamily="34" charset="-122"/>
                <a:cs typeface="Calibri" pitchFamily="34" charset="-120"/>
              </a:rPr>
              <a:t>official label Apr-Jun 2024</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scored once</a:t>
            </a:r>
            <a:endParaRPr lang="en-US" sz="1400" dirty="0"/>
          </a:p>
        </p:txBody>
      </p:sp>
      <p:sp>
        <p:nvSpPr>
          <p:cNvPr id="22" name="Text 20"/>
          <p:cNvSpPr txBox="1"/>
          <p:nvPr/>
        </p:nvSpPr>
        <p:spPr>
          <a:xfrm>
            <a:off x="548640" y="3749040"/>
            <a:ext cx="11064240" cy="2377440"/>
          </a:xfrm>
          <a:prstGeom prst="rect">
            <a:avLst/>
          </a:prstGeom>
          <a:noFill/>
          <a:ln/>
        </p:spPr>
        <p:txBody>
          <a:bodyPr wrap="square" rtlCol="0" anchor="t"/>
          <a:lstStyle/>
          <a:p>
            <a:pPr marL="0" indent="0">
              <a:spcAft>
                <a:spcPts val="1000"/>
              </a:spcAft>
              <a:buNone/>
            </a:pPr>
            <a:r>
              <a:rPr lang="en-US" sz="1700" b="1" dirty="0">
                <a:solidFill>
                  <a:srgbClr val="1B2A22"/>
                </a:solidFill>
                <a:latin typeface="Calibri" pitchFamily="34" charset="0"/>
                <a:ea typeface="Calibri" pitchFamily="34" charset="-122"/>
                <a:cs typeface="Calibri" pitchFamily="34" charset="-120"/>
              </a:rPr>
              <a:t>Same churn rule replayed at each cutoff:</a:t>
            </a:r>
            <a:r>
              <a:rPr lang="en-US" sz="1700" dirty="0">
                <a:solidFill>
                  <a:srgbClr val="1B2A22"/>
                </a:solidFill>
                <a:latin typeface="Calibri" pitchFamily="34" charset="0"/>
                <a:ea typeface="Calibri" pitchFamily="34" charset="-122"/>
                <a:cs typeface="Calibri" pitchFamily="34" charset="-120"/>
              </a:rPr>
              <a:t> no purchase in the next 3 months despite earlier purchases</a:t>
            </a:r>
            <a:endParaRPr lang="en-US" sz="1700" dirty="0"/>
          </a:p>
          <a:p>
            <a:pPr marL="0" indent="0">
              <a:spcAft>
                <a:spcPts val="1000"/>
              </a:spcAft>
              <a:buNone/>
            </a:pPr>
            <a:r>
              <a:rPr lang="en-US" sz="1700" b="1" dirty="0">
                <a:solidFill>
                  <a:srgbClr val="1B2A22"/>
                </a:solidFill>
                <a:latin typeface="Calibri" pitchFamily="34" charset="0"/>
                <a:ea typeface="Calibri" pitchFamily="34" charset="-122"/>
                <a:cs typeface="Calibri" pitchFamily="34" charset="-120"/>
              </a:rPr>
              <a:t>40 leakage-safe features</a:t>
            </a:r>
            <a:r>
              <a:rPr lang="en-US" sz="1700" dirty="0">
                <a:solidFill>
                  <a:srgbClr val="1B2A22"/>
                </a:solidFill>
                <a:latin typeface="Calibri" pitchFamily="34" charset="0"/>
                <a:ea typeface="Calibri" pitchFamily="34" charset="-122"/>
                <a:cs typeface="Calibri" pitchFamily="34" charset="-120"/>
              </a:rPr>
              <a:t> from months up to the cutoff only: recency, purchase and spend trends, rolling app / email / coupon activity, support-ticket trend, tenure, tier and demographics</a:t>
            </a:r>
            <a:endParaRPr lang="en-US" sz="1700" dirty="0"/>
          </a:p>
          <a:p>
            <a:pPr marL="0" indent="0">
              <a:spcAft>
                <a:spcPts val="1000"/>
              </a:spcAft>
              <a:buNone/>
            </a:pPr>
            <a:r>
              <a:rPr lang="en-US" sz="1700" b="1" dirty="0">
                <a:solidFill>
                  <a:srgbClr val="1B2A22"/>
                </a:solidFill>
                <a:latin typeface="Calibri" pitchFamily="34" charset="0"/>
                <a:ea typeface="Calibri" pitchFamily="34" charset="-122"/>
                <a:cs typeface="Calibri" pitchFamily="34" charset="-120"/>
              </a:rPr>
              <a:t>Stable over time:</a:t>
            </a:r>
            <a:r>
              <a:rPr lang="en-US" sz="1700" dirty="0">
                <a:solidFill>
                  <a:srgbClr val="1B2A22"/>
                </a:solidFill>
                <a:latin typeface="Calibri" pitchFamily="34" charset="0"/>
                <a:ea typeface="Calibri" pitchFamily="34" charset="-122"/>
                <a:cs typeface="Calibri" pitchFamily="34" charset="-120"/>
              </a:rPr>
              <a:t> expanding-window backtest gives active-member PR-AUC 0.78-0.82 in every fold</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Support friction and disengagement precede churn</a:t>
            </a:r>
            <a:endParaRPr lang="en-US" sz="3200" dirty="0"/>
          </a:p>
        </p:txBody>
      </p:sp>
      <p:graphicFrame>
        <p:nvGraphicFramePr>
          <p:cNvPr id="3" name="Chart 0"/>
          <p:cNvGraphicFramePr/>
          <p:nvPr/>
        </p:nvGraphicFramePr>
        <p:xfrm>
          <a:off x="548640" y="1280160"/>
          <a:ext cx="548640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6309360" y="1280160"/>
          <a:ext cx="53492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 1"/>
          <p:cNvSpPr txBox="1"/>
          <p:nvPr/>
        </p:nvSpPr>
        <p:spPr>
          <a:xfrm>
            <a:off x="548640" y="5577840"/>
            <a:ext cx="11064240" cy="685800"/>
          </a:xfrm>
          <a:prstGeom prst="rect">
            <a:avLst/>
          </a:prstGeom>
          <a:noFill/>
          <a:ln/>
        </p:spPr>
        <p:txBody>
          <a:bodyPr wrap="square" lIns="635" tIns="635" rIns="635" bIns="635" rtlCol="0" anchor="t"/>
          <a:lstStyle/>
          <a:p>
            <a:pPr marL="0" indent="0">
              <a:buNone/>
            </a:pPr>
            <a:r>
              <a:rPr lang="en-US" sz="1500" dirty="0">
                <a:solidFill>
                  <a:srgbClr val="4A4F4B"/>
                </a:solidFill>
                <a:latin typeface="Calibri" pitchFamily="34" charset="0"/>
                <a:ea typeface="Calibri" pitchFamily="34" charset="-122"/>
                <a:cs typeface="Calibri" pitchFamily="34" charset="-120"/>
              </a:rPr>
              <a:t>Active members only. Same pattern for email opens (25% with none vs 2%), coupons (26% vs 2%) and falling purchases. Tier and city barely matter. Associations, not proven causes.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Machine learning beats the recency rule where it matters</a:t>
            </a:r>
            <a:endParaRPr lang="en-US" sz="3200" dirty="0"/>
          </a:p>
        </p:txBody>
      </p:sp>
      <p:graphicFrame>
        <p:nvGraphicFramePr>
          <p:cNvPr id="3" name="Chart 0"/>
          <p:cNvGraphicFramePr/>
          <p:nvPr/>
        </p:nvGraphicFramePr>
        <p:xfrm>
          <a:off x="548640" y="128016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863840" y="1371600"/>
            <a:ext cx="3794760" cy="1600200"/>
          </a:xfrm>
          <a:prstGeom prst="roundRect">
            <a:avLst>
              <a:gd name="adj" fmla="val 6857"/>
            </a:avLst>
          </a:prstGeom>
          <a:solidFill>
            <a:srgbClr val="EEF3EF"/>
          </a:solidFill>
          <a:ln w="12700">
            <a:solidFill>
              <a:srgbClr val="EEF3EF"/>
            </a:solidFill>
            <a:prstDash val="solid"/>
          </a:ln>
        </p:spPr>
        <p:txBody>
          <a:bodyPr/>
          <a:lstStyle/>
          <a:p>
            <a:endParaRPr lang="en-IN"/>
          </a:p>
        </p:txBody>
      </p:sp>
      <p:sp>
        <p:nvSpPr>
          <p:cNvPr id="5" name="Text 2"/>
          <p:cNvSpPr txBox="1"/>
          <p:nvPr/>
        </p:nvSpPr>
        <p:spPr>
          <a:xfrm>
            <a:off x="8092440" y="1508760"/>
            <a:ext cx="3337560" cy="777240"/>
          </a:xfrm>
          <a:prstGeom prst="rect">
            <a:avLst/>
          </a:prstGeom>
          <a:noFill/>
          <a:ln/>
        </p:spPr>
        <p:txBody>
          <a:bodyPr wrap="square" lIns="635" tIns="635" rIns="635" bIns="635" rtlCol="0" anchor="t"/>
          <a:lstStyle/>
          <a:p>
            <a:pPr marL="0" indent="0">
              <a:buNone/>
            </a:pPr>
            <a:r>
              <a:rPr lang="en-US" sz="4400" b="1" dirty="0">
                <a:solidFill>
                  <a:srgbClr val="1F4D3A"/>
                </a:solidFill>
                <a:latin typeface="Cambria" pitchFamily="34" charset="0"/>
                <a:ea typeface="Cambria" pitchFamily="34" charset="-122"/>
                <a:cs typeface="Cambria" pitchFamily="34" charset="-120"/>
              </a:rPr>
              <a:t>0.75 / 0.74</a:t>
            </a:r>
            <a:endParaRPr lang="en-US" sz="4400" dirty="0"/>
          </a:p>
        </p:txBody>
      </p:sp>
      <p:sp>
        <p:nvSpPr>
          <p:cNvPr id="6" name="Text 3"/>
          <p:cNvSpPr txBox="1"/>
          <p:nvPr/>
        </p:nvSpPr>
        <p:spPr>
          <a:xfrm>
            <a:off x="8092440" y="2286000"/>
            <a:ext cx="3337560" cy="640080"/>
          </a:xfrm>
          <a:prstGeom prst="rect">
            <a:avLst/>
          </a:prstGeom>
          <a:noFill/>
          <a:ln/>
        </p:spPr>
        <p:txBody>
          <a:bodyPr wrap="square" lIns="635" tIns="635" rIns="635" bIns="635" rtlCol="0" anchor="t"/>
          <a:lstStyle/>
          <a:p>
            <a:pPr marL="0" indent="0">
              <a:buNone/>
            </a:pPr>
            <a:r>
              <a:rPr lang="en-US" sz="1500" dirty="0">
                <a:solidFill>
                  <a:srgbClr val="1B2A22"/>
                </a:solidFill>
                <a:latin typeface="Calibri" pitchFamily="34" charset="0"/>
                <a:ea typeface="Calibri" pitchFamily="34" charset="-122"/>
                <a:cs typeface="Calibri" pitchFamily="34" charset="-120"/>
              </a:rPr>
              <a:t>precision / recall for active members at the tuned threshold</a:t>
            </a:r>
            <a:endParaRPr lang="en-US" sz="1500" dirty="0"/>
          </a:p>
        </p:txBody>
      </p:sp>
      <p:sp>
        <p:nvSpPr>
          <p:cNvPr id="7" name="Text 4"/>
          <p:cNvSpPr txBox="1"/>
          <p:nvPr/>
        </p:nvSpPr>
        <p:spPr>
          <a:xfrm>
            <a:off x="7863840" y="3154680"/>
            <a:ext cx="3794760" cy="3017520"/>
          </a:xfrm>
          <a:prstGeom prst="rect">
            <a:avLst/>
          </a:prstGeom>
          <a:noFill/>
          <a:ln/>
        </p:spPr>
        <p:txBody>
          <a:bodyPr wrap="square" rtlCol="0" anchor="t"/>
          <a:lstStyle/>
          <a:p>
            <a:pPr marL="0" indent="0">
              <a:spcAft>
                <a:spcPts val="1000"/>
              </a:spcAft>
              <a:buNone/>
            </a:pPr>
            <a:r>
              <a:rPr lang="en-US" sz="1500" b="1" dirty="0">
                <a:solidFill>
                  <a:srgbClr val="1B2A22"/>
                </a:solidFill>
                <a:latin typeface="Calibri" pitchFamily="34" charset="0"/>
                <a:ea typeface="Calibri" pitchFamily="34" charset="-122"/>
                <a:cs typeface="Calibri" pitchFamily="34" charset="-120"/>
              </a:rPr>
              <a:t>Imbalance:</a:t>
            </a:r>
            <a:r>
              <a:rPr lang="en-US" sz="1500" dirty="0">
                <a:solidFill>
                  <a:srgbClr val="1B2A22"/>
                </a:solidFill>
                <a:latin typeface="Calibri" pitchFamily="34" charset="0"/>
                <a:ea typeface="Calibri" pitchFamily="34" charset="-122"/>
                <a:cs typeface="Calibri" pitchFamily="34" charset="-120"/>
              </a:rPr>
              <a:t> threshold tuned for F1 on validation (0.33); class weights changed PR-AUC by under 0.005</a:t>
            </a:r>
            <a:endParaRPr lang="en-US" sz="1500" dirty="0"/>
          </a:p>
          <a:p>
            <a:pPr marL="0" indent="0">
              <a:spcAft>
                <a:spcPts val="1000"/>
              </a:spcAft>
              <a:buNone/>
            </a:pPr>
            <a:r>
              <a:rPr lang="en-US" sz="1500" b="1" dirty="0">
                <a:solidFill>
                  <a:srgbClr val="1B2A22"/>
                </a:solidFill>
                <a:latin typeface="Calibri" pitchFamily="34" charset="0"/>
                <a:ea typeface="Calibri" pitchFamily="34" charset="-122"/>
                <a:cs typeface="Calibri" pitchFamily="34" charset="-120"/>
              </a:rPr>
              <a:t>Why LightGBM:</a:t>
            </a:r>
            <a:r>
              <a:rPr lang="en-US" sz="1500" dirty="0">
                <a:solidFill>
                  <a:srgbClr val="1B2A22"/>
                </a:solidFill>
                <a:latin typeface="Calibri" pitchFamily="34" charset="0"/>
                <a:ea typeface="Calibri" pitchFamily="34" charset="-122"/>
                <a:cs typeface="Calibri" pitchFamily="34" charset="-120"/>
              </a:rPr>
              <a:t> tied with logistic regression on ranking, but best calibrated (Brier 0.027), which the scenario maths needs</a:t>
            </a:r>
            <a:endParaRPr lang="en-US" sz="1500" dirty="0"/>
          </a:p>
          <a:p>
            <a:pPr marL="0" indent="0">
              <a:spcAft>
                <a:spcPts val="1000"/>
              </a:spcAft>
              <a:buNone/>
            </a:pPr>
            <a:r>
              <a:rPr lang="en-US" sz="1500" b="1" dirty="0">
                <a:solidFill>
                  <a:srgbClr val="1B2A22"/>
                </a:solidFill>
                <a:latin typeface="Calibri" pitchFamily="34" charset="0"/>
                <a:ea typeface="Calibri" pitchFamily="34" charset="-122"/>
                <a:cs typeface="Calibri" pitchFamily="34" charset="-120"/>
              </a:rPr>
              <a:t>Accuracy alone misleads:</a:t>
            </a:r>
            <a:r>
              <a:rPr lang="en-US" sz="1500" dirty="0">
                <a:solidFill>
                  <a:srgbClr val="1B2A22"/>
                </a:solidFill>
                <a:latin typeface="Calibri" pitchFamily="34" charset="0"/>
                <a:ea typeface="Calibri" pitchFamily="34" charset="-122"/>
                <a:cs typeface="Calibri" pitchFamily="34" charset="-120"/>
              </a:rPr>
              <a:t> "nobody churns" scores 90% on active members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Purchase momentum and app use drive risk</a:t>
            </a:r>
            <a:endParaRPr lang="en-US" sz="3200" dirty="0"/>
          </a:p>
        </p:txBody>
      </p:sp>
      <p:graphicFrame>
        <p:nvGraphicFramePr>
          <p:cNvPr id="3" name="Chart 0"/>
          <p:cNvGraphicFramePr/>
          <p:nvPr/>
        </p:nvGraphicFramePr>
        <p:xfrm>
          <a:off x="548640" y="1280160"/>
          <a:ext cx="5852160" cy="4846320"/>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age 0" descr="/home/claude/churn/outputs/figures/shap_beeswarm_active.png"/>
          <p:cNvPicPr>
            <a:picLocks noChangeAspect="1"/>
          </p:cNvPicPr>
          <p:nvPr/>
        </p:nvPicPr>
        <p:blipFill>
          <a:blip r:embed="rId4"/>
          <a:stretch>
            <a:fillRect/>
          </a:stretch>
        </p:blipFill>
        <p:spPr>
          <a:xfrm>
            <a:off x="6629400" y="1280160"/>
            <a:ext cx="5029200" cy="3593592"/>
          </a:xfrm>
          <a:prstGeom prst="rect">
            <a:avLst/>
          </a:prstGeom>
        </p:spPr>
      </p:pic>
      <p:sp>
        <p:nvSpPr>
          <p:cNvPr id="5" name="Text 1"/>
          <p:cNvSpPr txBox="1"/>
          <p:nvPr/>
        </p:nvSpPr>
        <p:spPr>
          <a:xfrm>
            <a:off x="6629400" y="4983480"/>
            <a:ext cx="5029200" cy="1188720"/>
          </a:xfrm>
          <a:prstGeom prst="rect">
            <a:avLst/>
          </a:prstGeom>
          <a:noFill/>
          <a:ln/>
        </p:spPr>
        <p:txBody>
          <a:bodyPr wrap="square" lIns="635" tIns="635" rIns="635" bIns="635" rtlCol="0" anchor="t"/>
          <a:lstStyle/>
          <a:p>
            <a:pPr marL="0" indent="0">
              <a:buNone/>
            </a:pPr>
            <a:r>
              <a:rPr lang="en-US" sz="1400" dirty="0">
                <a:solidFill>
                  <a:srgbClr val="4A4F4B"/>
                </a:solidFill>
                <a:latin typeface="Calibri" pitchFamily="34" charset="0"/>
                <a:ea typeface="Calibri" pitchFamily="34" charset="-122"/>
                <a:cs typeface="Calibri" pitchFamily="34" charset="-120"/>
              </a:rPr>
              <a:t>Low purchases, app use, email opens and coupons push risk up (blue dots right); more support tickets push it up (red dots right). Each member's top three drivers are in the prediction file.</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Tier and city matter far less than behaviour</a:t>
            </a:r>
            <a:endParaRPr lang="en-US" sz="3200" dirty="0"/>
          </a:p>
        </p:txBody>
      </p:sp>
      <p:pic>
        <p:nvPicPr>
          <p:cNvPr id="3" name="Image 0" descr="/home/claude/churn/outputs/figures/segment_risk_active_members.png"/>
          <p:cNvPicPr>
            <a:picLocks noChangeAspect="1"/>
          </p:cNvPicPr>
          <p:nvPr/>
        </p:nvPicPr>
        <p:blipFill>
          <a:blip r:embed="rId3"/>
          <a:stretch>
            <a:fillRect/>
          </a:stretch>
        </p:blipFill>
        <p:spPr>
          <a:xfrm>
            <a:off x="548640" y="1280160"/>
            <a:ext cx="7863840" cy="2514600"/>
          </a:xfrm>
          <a:prstGeom prst="rect">
            <a:avLst/>
          </a:prstGeom>
        </p:spPr>
      </p:pic>
      <p:sp>
        <p:nvSpPr>
          <p:cNvPr id="4" name="Text 1"/>
          <p:cNvSpPr txBox="1"/>
          <p:nvPr/>
        </p:nvSpPr>
        <p:spPr>
          <a:xfrm>
            <a:off x="548640" y="4023360"/>
            <a:ext cx="11064240" cy="2194560"/>
          </a:xfrm>
          <a:prstGeom prst="rect">
            <a:avLst/>
          </a:prstGeom>
          <a:noFill/>
          <a:ln/>
        </p:spPr>
        <p:txBody>
          <a:bodyPr wrap="square" rtlCol="0" anchor="t"/>
          <a:lstStyle/>
          <a:p>
            <a:pPr marL="0" indent="0">
              <a:spcAft>
                <a:spcPts val="1000"/>
              </a:spcAft>
              <a:buNone/>
            </a:pPr>
            <a:r>
              <a:rPr lang="en-US" sz="1600" dirty="0">
                <a:solidFill>
                  <a:srgbClr val="1B2A22"/>
                </a:solidFill>
                <a:latin typeface="Calibri" pitchFamily="34" charset="0"/>
                <a:ea typeface="Calibri" pitchFamily="34" charset="-122"/>
                <a:cs typeface="Calibri" pitchFamily="34" charset="-120"/>
              </a:rPr>
              <a:t>Segment churn among active members ranges only </a:t>
            </a:r>
            <a:r>
              <a:rPr lang="en-US" sz="1600" b="1" dirty="0">
                <a:solidFill>
                  <a:srgbClr val="1B2A22"/>
                </a:solidFill>
                <a:latin typeface="Calibri" pitchFamily="34" charset="0"/>
                <a:ea typeface="Calibri" pitchFamily="34" charset="-122"/>
                <a:cs typeface="Calibri" pitchFamily="34" charset="-120"/>
              </a:rPr>
              <a:t>7-11%</a:t>
            </a:r>
            <a:r>
              <a:rPr lang="en-US" sz="1600" dirty="0">
                <a:solidFill>
                  <a:srgbClr val="1B2A22"/>
                </a:solidFill>
                <a:latin typeface="Calibri" pitchFamily="34" charset="0"/>
                <a:ea typeface="Calibri" pitchFamily="34" charset="-122"/>
                <a:cs typeface="Calibri" pitchFamily="34" charset="-120"/>
              </a:rPr>
              <a:t>; behaviour moves it </a:t>
            </a:r>
            <a:r>
              <a:rPr lang="en-US" sz="1600" b="1" dirty="0">
                <a:solidFill>
                  <a:srgbClr val="1B2A22"/>
                </a:solidFill>
                <a:latin typeface="Calibri" pitchFamily="34" charset="0"/>
                <a:ea typeface="Calibri" pitchFamily="34" charset="-122"/>
                <a:cs typeface="Calibri" pitchFamily="34" charset="-120"/>
              </a:rPr>
              <a:t>0-74%</a:t>
            </a:r>
            <a:endParaRPr lang="en-US" sz="1600" dirty="0"/>
          </a:p>
          <a:p>
            <a:pPr marL="0" indent="0">
              <a:spcAft>
                <a:spcPts val="1000"/>
              </a:spcAft>
              <a:buNone/>
            </a:pPr>
            <a:r>
              <a:rPr lang="en-US" sz="1600" dirty="0">
                <a:solidFill>
                  <a:srgbClr val="1B2A22"/>
                </a:solidFill>
                <a:latin typeface="Calibri" pitchFamily="34" charset="0"/>
                <a:ea typeface="Calibri" pitchFamily="34" charset="-122"/>
                <a:cs typeface="Calibri" pitchFamily="34" charset="-120"/>
              </a:rPr>
              <a:t>Predictions track actual churn in every tier, cohort and city: no segment is systematically mis-scored</a:t>
            </a:r>
            <a:endParaRPr lang="en-US" sz="1600" dirty="0"/>
          </a:p>
          <a:p>
            <a:pPr marL="0" indent="0">
              <a:spcAft>
                <a:spcPts val="1000"/>
              </a:spcAft>
              <a:buNone/>
            </a:pPr>
            <a:r>
              <a:rPr lang="en-US" sz="1600" b="1" dirty="0">
                <a:solidFill>
                  <a:srgbClr val="1B2A22"/>
                </a:solidFill>
                <a:latin typeface="Calibri" pitchFamily="34" charset="0"/>
                <a:ea typeface="Calibri" pitchFamily="34" charset="-122"/>
                <a:cs typeface="Calibri" pitchFamily="34" charset="-120"/>
              </a:rPr>
              <a:t>Watch Platinum:</a:t>
            </a:r>
            <a:r>
              <a:rPr lang="en-US" sz="1600" dirty="0">
                <a:solidFill>
                  <a:srgbClr val="1B2A22"/>
                </a:solidFill>
                <a:latin typeface="Calibri" pitchFamily="34" charset="0"/>
                <a:ea typeface="Calibri" pitchFamily="34" charset="-122"/>
                <a:cs typeface="Calibri" pitchFamily="34" charset="-120"/>
              </a:rPr>
              <a:t> actual 9.4% vs predicted 7.3%, a small under-prediction on the most valuable members</a:t>
            </a:r>
            <a:endParaRPr lang="en-US" sz="1600" dirty="0"/>
          </a:p>
          <a:p>
            <a:pPr marL="0" indent="0">
              <a:spcAft>
                <a:spcPts val="1000"/>
              </a:spcAft>
              <a:buNone/>
            </a:pPr>
            <a:r>
              <a:rPr lang="en-US" sz="1600" dirty="0">
                <a:solidFill>
                  <a:srgbClr val="1B2A22"/>
                </a:solidFill>
                <a:latin typeface="Calibri" pitchFamily="34" charset="0"/>
                <a:ea typeface="Calibri" pitchFamily="34" charset="-122"/>
                <a:cs typeface="Calibri" pitchFamily="34" charset="-120"/>
              </a:rPr>
              <a:t>2024 joiners churn least: they have had less time to lapse</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Engagement and support add what demographics cannot</a:t>
            </a:r>
            <a:endParaRPr lang="en-US" sz="3200" dirty="0"/>
          </a:p>
        </p:txBody>
      </p:sp>
      <p:graphicFrame>
        <p:nvGraphicFramePr>
          <p:cNvPr id="3" name="Chart 0"/>
          <p:cNvGraphicFramePr/>
          <p:nvPr/>
        </p:nvGraphicFramePr>
        <p:xfrm>
          <a:off x="548640" y="128016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863840" y="1371600"/>
            <a:ext cx="3794760" cy="1600200"/>
          </a:xfrm>
          <a:prstGeom prst="roundRect">
            <a:avLst>
              <a:gd name="adj" fmla="val 6857"/>
            </a:avLst>
          </a:prstGeom>
          <a:solidFill>
            <a:srgbClr val="EEF3EF"/>
          </a:solidFill>
          <a:ln w="12700">
            <a:solidFill>
              <a:srgbClr val="EEF3EF"/>
            </a:solidFill>
            <a:prstDash val="solid"/>
          </a:ln>
        </p:spPr>
        <p:txBody>
          <a:bodyPr/>
          <a:lstStyle/>
          <a:p>
            <a:endParaRPr lang="en-IN"/>
          </a:p>
        </p:txBody>
      </p:sp>
      <p:sp>
        <p:nvSpPr>
          <p:cNvPr id="5" name="Text 2"/>
          <p:cNvSpPr txBox="1"/>
          <p:nvPr/>
        </p:nvSpPr>
        <p:spPr>
          <a:xfrm>
            <a:off x="8092440" y="1508760"/>
            <a:ext cx="3337560" cy="777240"/>
          </a:xfrm>
          <a:prstGeom prst="rect">
            <a:avLst/>
          </a:prstGeom>
          <a:noFill/>
          <a:ln/>
        </p:spPr>
        <p:txBody>
          <a:bodyPr wrap="square" lIns="635" tIns="635" rIns="635" bIns="635" rtlCol="0" anchor="t"/>
          <a:lstStyle/>
          <a:p>
            <a:pPr marL="0" indent="0">
              <a:buNone/>
            </a:pPr>
            <a:r>
              <a:rPr lang="en-US" sz="4400" b="1" dirty="0">
                <a:solidFill>
                  <a:srgbClr val="8A8D87"/>
                </a:solidFill>
                <a:latin typeface="Cambria" pitchFamily="34" charset="0"/>
                <a:ea typeface="Cambria" pitchFamily="34" charset="-122"/>
                <a:cs typeface="Cambria" pitchFamily="34" charset="-120"/>
              </a:rPr>
              <a:t>0.10</a:t>
            </a:r>
            <a:endParaRPr lang="en-US" sz="4400" dirty="0"/>
          </a:p>
        </p:txBody>
      </p:sp>
      <p:sp>
        <p:nvSpPr>
          <p:cNvPr id="6" name="Text 3"/>
          <p:cNvSpPr txBox="1"/>
          <p:nvPr/>
        </p:nvSpPr>
        <p:spPr>
          <a:xfrm>
            <a:off x="8092440" y="2286000"/>
            <a:ext cx="3337560" cy="640080"/>
          </a:xfrm>
          <a:prstGeom prst="rect">
            <a:avLst/>
          </a:prstGeom>
          <a:noFill/>
          <a:ln/>
        </p:spPr>
        <p:txBody>
          <a:bodyPr wrap="square" lIns="635" tIns="635" rIns="635" bIns="635" rtlCol="0" anchor="t"/>
          <a:lstStyle/>
          <a:p>
            <a:pPr marL="0" indent="0">
              <a:buNone/>
            </a:pPr>
            <a:r>
              <a:rPr lang="en-US" sz="1500" dirty="0">
                <a:solidFill>
                  <a:srgbClr val="1B2A22"/>
                </a:solidFill>
                <a:latin typeface="Calibri" pitchFamily="34" charset="0"/>
                <a:ea typeface="Calibri" pitchFamily="34" charset="-122"/>
                <a:cs typeface="Calibri" pitchFamily="34" charset="-120"/>
              </a:rPr>
              <a:t>demographics alone: no better than the 9.6% base rate</a:t>
            </a:r>
            <a:endParaRPr lang="en-US" sz="1500" dirty="0"/>
          </a:p>
        </p:txBody>
      </p:sp>
      <p:sp>
        <p:nvSpPr>
          <p:cNvPr id="7" name="Text 4"/>
          <p:cNvSpPr txBox="1"/>
          <p:nvPr/>
        </p:nvSpPr>
        <p:spPr>
          <a:xfrm>
            <a:off x="7863840" y="3200400"/>
            <a:ext cx="3794760" cy="2926080"/>
          </a:xfrm>
          <a:prstGeom prst="rect">
            <a:avLst/>
          </a:prstGeom>
          <a:noFill/>
          <a:ln/>
        </p:spPr>
        <p:txBody>
          <a:bodyPr wrap="square" rtlCol="0" anchor="t"/>
          <a:lstStyle/>
          <a:p>
            <a:pPr marL="0" indent="0">
              <a:spcAft>
                <a:spcPts val="1000"/>
              </a:spcAft>
              <a:buNone/>
            </a:pPr>
            <a:r>
              <a:rPr lang="en-US" sz="1500" b="1" dirty="0">
                <a:solidFill>
                  <a:srgbClr val="1B2A22"/>
                </a:solidFill>
                <a:latin typeface="Calibri" pitchFamily="34" charset="0"/>
                <a:ea typeface="Calibri" pitchFamily="34" charset="-122"/>
                <a:cs typeface="Calibri" pitchFamily="34" charset="-120"/>
              </a:rPr>
              <a:t>Engagement</a:t>
            </a:r>
            <a:r>
              <a:rPr lang="en-US" sz="1500" dirty="0">
                <a:solidFill>
                  <a:srgbClr val="1B2A22"/>
                </a:solidFill>
                <a:latin typeface="Calibri" pitchFamily="34" charset="0"/>
                <a:ea typeface="Calibri" pitchFamily="34" charset="-122"/>
                <a:cs typeface="Calibri" pitchFamily="34" charset="-120"/>
              </a:rPr>
              <a:t> is the biggest single lift (0.69)</a:t>
            </a:r>
            <a:endParaRPr lang="en-US" sz="1500" dirty="0"/>
          </a:p>
          <a:p>
            <a:pPr marL="0" indent="0">
              <a:spcAft>
                <a:spcPts val="1000"/>
              </a:spcAft>
              <a:buNone/>
            </a:pPr>
            <a:r>
              <a:rPr lang="en-US" sz="1500" b="1" dirty="0">
                <a:solidFill>
                  <a:srgbClr val="1B2A22"/>
                </a:solidFill>
                <a:latin typeface="Calibri" pitchFamily="34" charset="0"/>
                <a:ea typeface="Calibri" pitchFamily="34" charset="-122"/>
                <a:cs typeface="Calibri" pitchFamily="34" charset="-120"/>
              </a:rPr>
              <a:t>Support</a:t>
            </a:r>
            <a:r>
              <a:rPr lang="en-US" sz="1500" dirty="0">
                <a:solidFill>
                  <a:srgbClr val="1B2A22"/>
                </a:solidFill>
                <a:latin typeface="Calibri" pitchFamily="34" charset="0"/>
                <a:ea typeface="Calibri" pitchFamily="34" charset="-122"/>
                <a:cs typeface="Calibri" pitchFamily="34" charset="-120"/>
              </a:rPr>
              <a:t> is weak alone but removing it costs 0.03 PR-AUC: it flags members whose purchases still look normal</a:t>
            </a:r>
            <a:endParaRPr lang="en-US" sz="1500" dirty="0"/>
          </a:p>
          <a:p>
            <a:pPr marL="0" indent="0">
              <a:spcAft>
                <a:spcPts val="1000"/>
              </a:spcAft>
              <a:buNone/>
            </a:pPr>
            <a:r>
              <a:rPr lang="en-US" sz="1500" b="1" dirty="0">
                <a:solidFill>
                  <a:srgbClr val="1B2A22"/>
                </a:solidFill>
                <a:latin typeface="Calibri" pitchFamily="34" charset="0"/>
                <a:ea typeface="Calibri" pitchFamily="34" charset="-122"/>
                <a:cs typeface="Calibri" pitchFamily="34" charset="-120"/>
              </a:rPr>
              <a:t>All groups together:</a:t>
            </a:r>
            <a:r>
              <a:rPr lang="en-US" sz="1500" dirty="0">
                <a:solidFill>
                  <a:srgbClr val="1B2A22"/>
                </a:solidFill>
                <a:latin typeface="Calibri" pitchFamily="34" charset="0"/>
                <a:ea typeface="Calibri" pitchFamily="34" charset="-122"/>
                <a:cs typeface="Calibri" pitchFamily="34" charset="-120"/>
              </a:rPr>
              <a:t> 0.81</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 targeted list keeps the savings and cuts the cost</a:t>
            </a:r>
            <a:endParaRPr lang="en-US" sz="3200" dirty="0"/>
          </a:p>
        </p:txBody>
      </p:sp>
      <p:graphicFrame>
        <p:nvGraphicFramePr>
          <p:cNvPr id="3" name="Chart 0"/>
          <p:cNvGraphicFramePr/>
          <p:nvPr/>
        </p:nvGraphicFramePr>
        <p:xfrm>
          <a:off x="548640" y="1280160"/>
          <a:ext cx="5394960" cy="4846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63640" y="1371600"/>
          <a:ext cx="5394960" cy="2267712"/>
        </p:xfrm>
        <a:graphic>
          <a:graphicData uri="http://schemas.openxmlformats.org/drawingml/2006/table">
            <a:tbl>
              <a:tblPr/>
              <a:tblGrid>
                <a:gridCol w="20116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1F4D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Contacted</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1F4D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Retained*</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1F4D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1F4D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Cost / retained</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solidFill>
                      <a:srgbClr val="1F4D3A"/>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1B2A22"/>
                          </a:solidFill>
                          <a:latin typeface="Calibri" pitchFamily="34" charset="0"/>
                          <a:ea typeface="Calibri" pitchFamily="34" charset="-122"/>
                          <a:cs typeface="Calibri" pitchFamily="34" charset="-120"/>
                        </a:rPr>
                        <a:t>A. Service call: ticket + high risk</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$872</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b="1" dirty="0">
                          <a:solidFill>
                            <a:srgbClr val="1F4D3A"/>
                          </a:solidFill>
                          <a:latin typeface="Calibri" pitchFamily="34" charset="0"/>
                          <a:ea typeface="Calibri" pitchFamily="34" charset="-122"/>
                          <a:cs typeface="Calibri" pitchFamily="34" charset="-120"/>
                        </a:rPr>
                        <a:t>$77</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1B2A22"/>
                          </a:solidFill>
                          <a:latin typeface="Calibri" pitchFamily="34" charset="0"/>
                          <a:ea typeface="Calibri" pitchFamily="34" charset="-122"/>
                          <a:cs typeface="Calibri" pitchFamily="34" charset="-120"/>
                        </a:rPr>
                        <a:t>B. Coupon: top 20% risk</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343</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$1,715</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b="1" dirty="0">
                          <a:solidFill>
                            <a:srgbClr val="1F4D3A"/>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1B2A22"/>
                          </a:solidFill>
                          <a:latin typeface="Calibri" pitchFamily="34" charset="0"/>
                          <a:ea typeface="Calibri" pitchFamily="34" charset="-122"/>
                          <a:cs typeface="Calibri" pitchFamily="34" charset="-120"/>
                        </a:rPr>
                        <a:t>C. Coupon: everyone (today)</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1,715</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dirty="0">
                          <a:solidFill>
                            <a:srgbClr val="1B2A22"/>
                          </a:solidFill>
                          <a:latin typeface="Calibri" pitchFamily="34" charset="0"/>
                          <a:ea typeface="Calibri" pitchFamily="34" charset="-122"/>
                          <a:cs typeface="Calibri" pitchFamily="34" charset="-120"/>
                        </a:rPr>
                        <a:t>$8,575</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tc>
                  <a:txBody>
                    <a:bodyPr/>
                    <a:lstStyle/>
                    <a:p>
                      <a:pPr marL="0" indent="0">
                        <a:buNone/>
                      </a:pPr>
                      <a:r>
                        <a:rPr lang="en-US" sz="1200" b="1" dirty="0">
                          <a:solidFill>
                            <a:srgbClr val="E8603C"/>
                          </a:solidFill>
                          <a:latin typeface="Calibri" pitchFamily="34" charset="0"/>
                          <a:ea typeface="Calibri" pitchFamily="34" charset="-122"/>
                          <a:cs typeface="Calibri" pitchFamily="34" charset="-120"/>
                        </a:rPr>
                        <a:t>$419</a:t>
                      </a:r>
                      <a:endParaRPr lang="en-US" sz="1200" dirty="0">
                        <a:latin typeface="Calibri" charset="0"/>
                        <a:ea typeface="Calibri" charset="0"/>
                        <a:cs typeface="Calibri" charset="0"/>
                      </a:endParaRPr>
                    </a:p>
                  </a:txBody>
                  <a:tcPr anchor="ctr">
                    <a:lnL w="6350" cap="flat" cmpd="sng" algn="ctr">
                      <a:solidFill>
                        <a:srgbClr val="D5DCD6"/>
                      </a:solidFill>
                      <a:prstDash val="solid"/>
                      <a:round/>
                      <a:headEnd type="none" w="med" len="med"/>
                      <a:tailEnd type="none" w="med" len="med"/>
                    </a:lnL>
                    <a:lnR w="6350" cap="flat" cmpd="sng" algn="ctr">
                      <a:solidFill>
                        <a:srgbClr val="D5DCD6"/>
                      </a:solidFill>
                      <a:prstDash val="solid"/>
                      <a:round/>
                      <a:headEnd type="none" w="med" len="med"/>
                      <a:tailEnd type="none" w="med" len="med"/>
                    </a:lnR>
                    <a:lnT w="6350" cap="flat" cmpd="sng" algn="ctr">
                      <a:solidFill>
                        <a:srgbClr val="D5DCD6"/>
                      </a:solidFill>
                      <a:prstDash val="solid"/>
                      <a:round/>
                      <a:headEnd type="none" w="med" len="med"/>
                      <a:tailEnd type="none" w="med" len="med"/>
                    </a:lnT>
                    <a:lnB w="6350" cap="flat" cmpd="sng" algn="ctr">
                      <a:solidFill>
                        <a:srgbClr val="D5DC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p:cNvSpPr txBox="1"/>
          <p:nvPr/>
        </p:nvSpPr>
        <p:spPr>
          <a:xfrm>
            <a:off x="6263640" y="3840480"/>
            <a:ext cx="5394960" cy="731520"/>
          </a:xfrm>
          <a:prstGeom prst="rect">
            <a:avLst/>
          </a:prstGeom>
          <a:noFill/>
          <a:ln/>
        </p:spPr>
        <p:txBody>
          <a:bodyPr wrap="square" lIns="635" tIns="635" rIns="635" bIns="635" rtlCol="0" anchor="t"/>
          <a:lstStyle/>
          <a:p>
            <a:pPr marL="0" indent="0">
              <a:buNone/>
            </a:pPr>
            <a:r>
              <a:rPr lang="en-US" sz="1200" dirty="0">
                <a:solidFill>
                  <a:srgbClr val="4A4F4B"/>
                </a:solidFill>
                <a:latin typeface="Calibri" pitchFamily="34" charset="0"/>
                <a:ea typeface="Calibri" pitchFamily="34" charset="-122"/>
                <a:cs typeface="Calibri" pitchFamily="34" charset="-120"/>
              </a:rPr>
              <a:t>*Model-implied risk reduction (about 26%) x 50% assumed effectiveness. $415 annual margin per retained member; $5 per coupon, $8 per call.</a:t>
            </a:r>
            <a:endParaRPr lang="en-US" sz="1200" dirty="0"/>
          </a:p>
        </p:txBody>
      </p:sp>
      <p:sp>
        <p:nvSpPr>
          <p:cNvPr id="6" name="Shape 2"/>
          <p:cNvSpPr/>
          <p:nvPr/>
        </p:nvSpPr>
        <p:spPr>
          <a:xfrm>
            <a:off x="6263640" y="4709160"/>
            <a:ext cx="5394960" cy="1417320"/>
          </a:xfrm>
          <a:prstGeom prst="roundRect">
            <a:avLst>
              <a:gd name="adj" fmla="val 7742"/>
            </a:avLst>
          </a:prstGeom>
          <a:solidFill>
            <a:srgbClr val="FBE9E3"/>
          </a:solidFill>
          <a:ln w="12700">
            <a:solidFill>
              <a:srgbClr val="FBE9E3"/>
            </a:solidFill>
            <a:prstDash val="solid"/>
          </a:ln>
        </p:spPr>
        <p:txBody>
          <a:bodyPr/>
          <a:lstStyle/>
          <a:p>
            <a:endParaRPr lang="en-IN"/>
          </a:p>
        </p:txBody>
      </p:sp>
      <p:sp>
        <p:nvSpPr>
          <p:cNvPr id="7" name="Text 3"/>
          <p:cNvSpPr txBox="1"/>
          <p:nvPr/>
        </p:nvSpPr>
        <p:spPr>
          <a:xfrm>
            <a:off x="6446520" y="4800600"/>
            <a:ext cx="5029200" cy="1234440"/>
          </a:xfrm>
          <a:prstGeom prst="rect">
            <a:avLst/>
          </a:prstGeom>
          <a:noFill/>
          <a:ln/>
        </p:spPr>
        <p:txBody>
          <a:bodyPr wrap="square" lIns="635" tIns="635" rIns="635" bIns="635" rtlCol="0" anchor="ctr"/>
          <a:lstStyle/>
          <a:p>
            <a:pPr marL="0" indent="0">
              <a:buNone/>
            </a:pPr>
            <a:r>
              <a:rPr lang="en-US" sz="1500" b="1" dirty="0">
                <a:solidFill>
                  <a:srgbClr val="1B2A22"/>
                </a:solidFill>
                <a:latin typeface="Calibri" pitchFamily="34" charset="0"/>
                <a:ea typeface="Calibri" pitchFamily="34" charset="-122"/>
                <a:cs typeface="Calibri" pitchFamily="34" charset="-120"/>
              </a:rPr>
              <a:t>Top 20% contacted reaches 91% of churners. Targeted coupons retain about as many as a blanket coupon for one-fifth of the cost; service calls are cheapest per member retained.</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10515600" cy="822960"/>
          </a:xfrm>
          <a:prstGeom prst="rect">
            <a:avLst/>
          </a:prstGeom>
          <a:noFill/>
          <a:ln/>
        </p:spPr>
        <p:txBody>
          <a:bodyPr wrap="square" lIns="635" tIns="635" rIns="635" bIns="635"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Recommendations</a:t>
            </a:r>
            <a:endParaRPr lang="en-US" sz="3600" dirty="0"/>
          </a:p>
        </p:txBody>
      </p:sp>
      <p:sp>
        <p:nvSpPr>
          <p:cNvPr id="3" name="Shape 1"/>
          <p:cNvSpPr/>
          <p:nvPr/>
        </p:nvSpPr>
        <p:spPr>
          <a:xfrm>
            <a:off x="731520" y="1600200"/>
            <a:ext cx="594360" cy="594360"/>
          </a:xfrm>
          <a:prstGeom prst="ellipse">
            <a:avLst/>
          </a:prstGeom>
          <a:solidFill>
            <a:srgbClr val="E8603C"/>
          </a:solidFill>
          <a:ln w="12700">
            <a:solidFill>
              <a:srgbClr val="E8603C"/>
            </a:solidFill>
            <a:prstDash val="solid"/>
          </a:ln>
        </p:spPr>
        <p:txBody>
          <a:bodyPr/>
          <a:lstStyle/>
          <a:p>
            <a:endParaRPr lang="en-IN"/>
          </a:p>
        </p:txBody>
      </p:sp>
      <p:sp>
        <p:nvSpPr>
          <p:cNvPr id="4" name="Text 2"/>
          <p:cNvSpPr txBox="1"/>
          <p:nvPr/>
        </p:nvSpPr>
        <p:spPr>
          <a:xfrm>
            <a:off x="731520" y="1673352"/>
            <a:ext cx="594360" cy="457200"/>
          </a:xfrm>
          <a:prstGeom prst="rect">
            <a:avLst/>
          </a:prstGeom>
          <a:noFill/>
          <a:ln/>
        </p:spPr>
        <p:txBody>
          <a:bodyPr wrap="square" lIns="635" tIns="635" rIns="635" bIns="635"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508760" y="1581912"/>
            <a:ext cx="2651760" cy="731520"/>
          </a:xfrm>
          <a:prstGeom prst="rect">
            <a:avLst/>
          </a:prstGeom>
          <a:noFill/>
          <a:ln/>
        </p:spPr>
        <p:txBody>
          <a:bodyPr wrap="square" lIns="635" tIns="635" rIns="635" bIns="635"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Score monthly, stop blanket offers</a:t>
            </a:r>
            <a:endParaRPr lang="en-US" sz="1800" dirty="0"/>
          </a:p>
        </p:txBody>
      </p:sp>
      <p:sp>
        <p:nvSpPr>
          <p:cNvPr id="6" name="Text 4"/>
          <p:cNvSpPr txBox="1"/>
          <p:nvPr/>
        </p:nvSpPr>
        <p:spPr>
          <a:xfrm>
            <a:off x="1508760" y="2331720"/>
            <a:ext cx="2651760" cy="1188720"/>
          </a:xfrm>
          <a:prstGeom prst="rect">
            <a:avLst/>
          </a:prstGeom>
          <a:noFill/>
          <a:ln/>
        </p:spPr>
        <p:txBody>
          <a:bodyPr wrap="square" lIns="635" tIns="635" rIns="635" bIns="635" rtlCol="0" anchor="t"/>
          <a:lstStyle/>
          <a:p>
            <a:pPr marL="0" indent="0">
              <a:buNone/>
            </a:pPr>
            <a:r>
              <a:rPr lang="en-US" sz="1500" dirty="0">
                <a:solidFill>
                  <a:srgbClr val="EEF3EF"/>
                </a:solidFill>
                <a:latin typeface="Calibri" pitchFamily="34" charset="0"/>
                <a:ea typeface="Calibri" pitchFamily="34" charset="-122"/>
                <a:cs typeface="Calibri" pitchFamily="34" charset="-120"/>
              </a:rPr>
              <a:t>Fund retention for the top 10-20% of active members by risk.</a:t>
            </a:r>
            <a:endParaRPr lang="en-US" sz="1500" dirty="0"/>
          </a:p>
        </p:txBody>
      </p:sp>
      <p:sp>
        <p:nvSpPr>
          <p:cNvPr id="7" name="Shape 5"/>
          <p:cNvSpPr/>
          <p:nvPr/>
        </p:nvSpPr>
        <p:spPr>
          <a:xfrm>
            <a:off x="4389120" y="1600200"/>
            <a:ext cx="594360" cy="594360"/>
          </a:xfrm>
          <a:prstGeom prst="ellipse">
            <a:avLst/>
          </a:prstGeom>
          <a:solidFill>
            <a:srgbClr val="E8603C"/>
          </a:solidFill>
          <a:ln w="12700">
            <a:solidFill>
              <a:srgbClr val="E8603C"/>
            </a:solidFill>
            <a:prstDash val="solid"/>
          </a:ln>
        </p:spPr>
        <p:txBody>
          <a:bodyPr/>
          <a:lstStyle/>
          <a:p>
            <a:endParaRPr lang="en-IN"/>
          </a:p>
        </p:txBody>
      </p:sp>
      <p:sp>
        <p:nvSpPr>
          <p:cNvPr id="8" name="Text 6"/>
          <p:cNvSpPr txBox="1"/>
          <p:nvPr/>
        </p:nvSpPr>
        <p:spPr>
          <a:xfrm>
            <a:off x="4389120" y="1673352"/>
            <a:ext cx="594360" cy="457200"/>
          </a:xfrm>
          <a:prstGeom prst="rect">
            <a:avLst/>
          </a:prstGeom>
          <a:noFill/>
          <a:ln/>
        </p:spPr>
        <p:txBody>
          <a:bodyPr wrap="square" lIns="635" tIns="635" rIns="635" bIns="635"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5166360" y="1581912"/>
            <a:ext cx="2651760" cy="731520"/>
          </a:xfrm>
          <a:prstGeom prst="rect">
            <a:avLst/>
          </a:prstGeom>
          <a:noFill/>
          <a:ln/>
        </p:spPr>
        <p:txBody>
          <a:bodyPr wrap="square" lIns="635" tIns="635" rIns="635" bIns="635"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Fix service first</a:t>
            </a:r>
            <a:endParaRPr lang="en-US" sz="1800" dirty="0"/>
          </a:p>
        </p:txBody>
      </p:sp>
      <p:sp>
        <p:nvSpPr>
          <p:cNvPr id="10" name="Text 8"/>
          <p:cNvSpPr txBox="1"/>
          <p:nvPr/>
        </p:nvSpPr>
        <p:spPr>
          <a:xfrm>
            <a:off x="5166360" y="2331720"/>
            <a:ext cx="2651760" cy="1188720"/>
          </a:xfrm>
          <a:prstGeom prst="rect">
            <a:avLst/>
          </a:prstGeom>
          <a:noFill/>
          <a:ln/>
        </p:spPr>
        <p:txBody>
          <a:bodyPr wrap="square" lIns="635" tIns="635" rIns="635" bIns="635" rtlCol="0" anchor="t"/>
          <a:lstStyle/>
          <a:p>
            <a:pPr marL="0" indent="0">
              <a:buNone/>
            </a:pPr>
            <a:r>
              <a:rPr lang="en-US" sz="1500" dirty="0">
                <a:solidFill>
                  <a:srgbClr val="EEF3EF"/>
                </a:solidFill>
                <a:latin typeface="Calibri" pitchFamily="34" charset="0"/>
                <a:ea typeface="Calibri" pitchFamily="34" charset="-122"/>
                <a:cs typeface="Calibri" pitchFamily="34" charset="-120"/>
              </a:rPr>
              <a:t>High-risk members with tickets or complaints get a proactive call before any discount.</a:t>
            </a:r>
            <a:endParaRPr lang="en-US" sz="1500" dirty="0"/>
          </a:p>
        </p:txBody>
      </p:sp>
      <p:sp>
        <p:nvSpPr>
          <p:cNvPr id="11" name="Shape 9"/>
          <p:cNvSpPr/>
          <p:nvPr/>
        </p:nvSpPr>
        <p:spPr>
          <a:xfrm>
            <a:off x="8046720" y="1600200"/>
            <a:ext cx="594360" cy="594360"/>
          </a:xfrm>
          <a:prstGeom prst="ellipse">
            <a:avLst/>
          </a:prstGeom>
          <a:solidFill>
            <a:srgbClr val="E8603C"/>
          </a:solidFill>
          <a:ln w="12700">
            <a:solidFill>
              <a:srgbClr val="E8603C"/>
            </a:solidFill>
            <a:prstDash val="solid"/>
          </a:ln>
        </p:spPr>
        <p:txBody>
          <a:bodyPr/>
          <a:lstStyle/>
          <a:p>
            <a:endParaRPr lang="en-IN"/>
          </a:p>
        </p:txBody>
      </p:sp>
      <p:sp>
        <p:nvSpPr>
          <p:cNvPr id="12" name="Text 10"/>
          <p:cNvSpPr txBox="1"/>
          <p:nvPr/>
        </p:nvSpPr>
        <p:spPr>
          <a:xfrm>
            <a:off x="8046720" y="1673352"/>
            <a:ext cx="594360" cy="457200"/>
          </a:xfrm>
          <a:prstGeom prst="rect">
            <a:avLst/>
          </a:prstGeom>
          <a:noFill/>
          <a:ln/>
        </p:spPr>
        <p:txBody>
          <a:bodyPr wrap="square" lIns="635" tIns="635" rIns="635" bIns="635"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txBox="1"/>
          <p:nvPr/>
        </p:nvSpPr>
        <p:spPr>
          <a:xfrm>
            <a:off x="8823960" y="1581912"/>
            <a:ext cx="2651760" cy="731520"/>
          </a:xfrm>
          <a:prstGeom prst="rect">
            <a:avLst/>
          </a:prstGeom>
          <a:noFill/>
          <a:ln/>
        </p:spPr>
        <p:txBody>
          <a:bodyPr wrap="square" lIns="635" tIns="635" rIns="635" bIns="635"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Coupons for the disengaged</a:t>
            </a:r>
            <a:endParaRPr lang="en-US" sz="1800" dirty="0"/>
          </a:p>
        </p:txBody>
      </p:sp>
      <p:sp>
        <p:nvSpPr>
          <p:cNvPr id="14" name="Text 12"/>
          <p:cNvSpPr txBox="1"/>
          <p:nvPr/>
        </p:nvSpPr>
        <p:spPr>
          <a:xfrm>
            <a:off x="8823960" y="2331720"/>
            <a:ext cx="2651760" cy="1188720"/>
          </a:xfrm>
          <a:prstGeom prst="rect">
            <a:avLst/>
          </a:prstGeom>
          <a:noFill/>
          <a:ln/>
        </p:spPr>
        <p:txBody>
          <a:bodyPr wrap="square" lIns="635" tIns="635" rIns="635" bIns="635" rtlCol="0" anchor="t"/>
          <a:lstStyle/>
          <a:p>
            <a:pPr marL="0" indent="0">
              <a:buNone/>
            </a:pPr>
            <a:r>
              <a:rPr lang="en-US" sz="1500" dirty="0">
                <a:solidFill>
                  <a:srgbClr val="EEF3EF"/>
                </a:solidFill>
                <a:latin typeface="Calibri" pitchFamily="34" charset="0"/>
                <a:ea typeface="Calibri" pitchFamily="34" charset="-122"/>
                <a:cs typeface="Calibri" pitchFamily="34" charset="-120"/>
              </a:rPr>
              <a:t>High-risk, ticket-free members get a personalised coupon or app nudge.</a:t>
            </a:r>
            <a:endParaRPr lang="en-US" sz="1500" dirty="0"/>
          </a:p>
        </p:txBody>
      </p:sp>
      <p:sp>
        <p:nvSpPr>
          <p:cNvPr id="15" name="Shape 13"/>
          <p:cNvSpPr/>
          <p:nvPr/>
        </p:nvSpPr>
        <p:spPr>
          <a:xfrm>
            <a:off x="731520" y="3977640"/>
            <a:ext cx="594360" cy="594360"/>
          </a:xfrm>
          <a:prstGeom prst="ellipse">
            <a:avLst/>
          </a:prstGeom>
          <a:solidFill>
            <a:srgbClr val="E8603C"/>
          </a:solidFill>
          <a:ln w="12700">
            <a:solidFill>
              <a:srgbClr val="E8603C"/>
            </a:solidFill>
            <a:prstDash val="solid"/>
          </a:ln>
        </p:spPr>
        <p:txBody>
          <a:bodyPr/>
          <a:lstStyle/>
          <a:p>
            <a:endParaRPr lang="en-IN"/>
          </a:p>
        </p:txBody>
      </p:sp>
      <p:sp>
        <p:nvSpPr>
          <p:cNvPr id="16" name="Text 14"/>
          <p:cNvSpPr txBox="1"/>
          <p:nvPr/>
        </p:nvSpPr>
        <p:spPr>
          <a:xfrm>
            <a:off x="731520" y="4050792"/>
            <a:ext cx="594360" cy="457200"/>
          </a:xfrm>
          <a:prstGeom prst="rect">
            <a:avLst/>
          </a:prstGeom>
          <a:noFill/>
          <a:ln/>
        </p:spPr>
        <p:txBody>
          <a:bodyPr wrap="square" lIns="635" tIns="635" rIns="635" bIns="635"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Text 15"/>
          <p:cNvSpPr txBox="1"/>
          <p:nvPr/>
        </p:nvSpPr>
        <p:spPr>
          <a:xfrm>
            <a:off x="1508760" y="3959352"/>
            <a:ext cx="2651760" cy="731520"/>
          </a:xfrm>
          <a:prstGeom prst="rect">
            <a:avLst/>
          </a:prstGeom>
          <a:noFill/>
          <a:ln/>
        </p:spPr>
        <p:txBody>
          <a:bodyPr wrap="square" lIns="635" tIns="635" rIns="635" bIns="635"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Watch app and email as early KPIs</a:t>
            </a:r>
            <a:endParaRPr lang="en-US" sz="1800" dirty="0"/>
          </a:p>
        </p:txBody>
      </p:sp>
      <p:sp>
        <p:nvSpPr>
          <p:cNvPr id="18" name="Text 16"/>
          <p:cNvSpPr txBox="1"/>
          <p:nvPr/>
        </p:nvSpPr>
        <p:spPr>
          <a:xfrm>
            <a:off x="1508760" y="4709160"/>
            <a:ext cx="2651760" cy="1188720"/>
          </a:xfrm>
          <a:prstGeom prst="rect">
            <a:avLst/>
          </a:prstGeom>
          <a:noFill/>
          <a:ln/>
        </p:spPr>
        <p:txBody>
          <a:bodyPr wrap="square" lIns="635" tIns="635" rIns="635" bIns="635" rtlCol="0" anchor="t"/>
          <a:lstStyle/>
          <a:p>
            <a:pPr marL="0" indent="0">
              <a:buNone/>
            </a:pPr>
            <a:r>
              <a:rPr lang="en-US" sz="1500" dirty="0">
                <a:solidFill>
                  <a:srgbClr val="EEF3EF"/>
                </a:solidFill>
                <a:latin typeface="Calibri" pitchFamily="34" charset="0"/>
                <a:ea typeface="Calibri" pitchFamily="34" charset="-122"/>
                <a:cs typeface="Calibri" pitchFamily="34" charset="-120"/>
              </a:rPr>
              <a:t>Under one app session a month or no opens for a quarter triggers review.</a:t>
            </a:r>
            <a:endParaRPr lang="en-US" sz="1500" dirty="0"/>
          </a:p>
        </p:txBody>
      </p:sp>
      <p:sp>
        <p:nvSpPr>
          <p:cNvPr id="19" name="Shape 17"/>
          <p:cNvSpPr/>
          <p:nvPr/>
        </p:nvSpPr>
        <p:spPr>
          <a:xfrm>
            <a:off x="4389120" y="3977640"/>
            <a:ext cx="594360" cy="594360"/>
          </a:xfrm>
          <a:prstGeom prst="ellipse">
            <a:avLst/>
          </a:prstGeom>
          <a:solidFill>
            <a:srgbClr val="E8603C"/>
          </a:solidFill>
          <a:ln w="12700">
            <a:solidFill>
              <a:srgbClr val="E8603C"/>
            </a:solidFill>
            <a:prstDash val="solid"/>
          </a:ln>
        </p:spPr>
        <p:txBody>
          <a:bodyPr/>
          <a:lstStyle/>
          <a:p>
            <a:endParaRPr lang="en-IN"/>
          </a:p>
        </p:txBody>
      </p:sp>
      <p:sp>
        <p:nvSpPr>
          <p:cNvPr id="20" name="Text 18"/>
          <p:cNvSpPr txBox="1"/>
          <p:nvPr/>
        </p:nvSpPr>
        <p:spPr>
          <a:xfrm>
            <a:off x="4389120" y="4050792"/>
            <a:ext cx="594360" cy="457200"/>
          </a:xfrm>
          <a:prstGeom prst="rect">
            <a:avLst/>
          </a:prstGeom>
          <a:noFill/>
          <a:ln/>
        </p:spPr>
        <p:txBody>
          <a:bodyPr wrap="square" lIns="635" tIns="635" rIns="635" bIns="635"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1" name="Text 19"/>
          <p:cNvSpPr txBox="1"/>
          <p:nvPr/>
        </p:nvSpPr>
        <p:spPr>
          <a:xfrm>
            <a:off x="5166360" y="3959352"/>
            <a:ext cx="2651760" cy="731520"/>
          </a:xfrm>
          <a:prstGeom prst="rect">
            <a:avLst/>
          </a:prstGeom>
          <a:noFill/>
          <a:ln/>
        </p:spPr>
        <p:txBody>
          <a:bodyPr wrap="square" lIns="635" tIns="635" rIns="635" bIns="635"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Separate win-back for lapsed</a:t>
            </a:r>
            <a:endParaRPr lang="en-US" sz="1800" dirty="0"/>
          </a:p>
        </p:txBody>
      </p:sp>
      <p:sp>
        <p:nvSpPr>
          <p:cNvPr id="22" name="Text 20"/>
          <p:cNvSpPr txBox="1"/>
          <p:nvPr/>
        </p:nvSpPr>
        <p:spPr>
          <a:xfrm>
            <a:off x="5166360" y="4709160"/>
            <a:ext cx="2651760" cy="1188720"/>
          </a:xfrm>
          <a:prstGeom prst="rect">
            <a:avLst/>
          </a:prstGeom>
          <a:noFill/>
          <a:ln/>
        </p:spPr>
        <p:txBody>
          <a:bodyPr wrap="square" lIns="635" tIns="635" rIns="635" bIns="635" rtlCol="0" anchor="t"/>
          <a:lstStyle/>
          <a:p>
            <a:pPr marL="0" indent="0">
              <a:buNone/>
            </a:pPr>
            <a:r>
              <a:rPr lang="en-US" sz="1500" dirty="0">
                <a:solidFill>
                  <a:srgbClr val="EEF3EF"/>
                </a:solidFill>
                <a:latin typeface="Calibri" pitchFamily="34" charset="0"/>
                <a:ea typeface="Calibri" pitchFamily="34" charset="-122"/>
                <a:cs typeface="Calibri" pitchFamily="34" charset="-120"/>
              </a:rPr>
              <a:t>~650 members silent since 2023 need reactivation, not retention.</a:t>
            </a:r>
            <a:endParaRPr lang="en-US" sz="1500" dirty="0"/>
          </a:p>
        </p:txBody>
      </p:sp>
      <p:sp>
        <p:nvSpPr>
          <p:cNvPr id="23" name="Shape 21"/>
          <p:cNvSpPr/>
          <p:nvPr/>
        </p:nvSpPr>
        <p:spPr>
          <a:xfrm>
            <a:off x="8046720" y="3977640"/>
            <a:ext cx="594360" cy="594360"/>
          </a:xfrm>
          <a:prstGeom prst="ellipse">
            <a:avLst/>
          </a:prstGeom>
          <a:solidFill>
            <a:srgbClr val="E8603C"/>
          </a:solidFill>
          <a:ln w="12700">
            <a:solidFill>
              <a:srgbClr val="E8603C"/>
            </a:solidFill>
            <a:prstDash val="solid"/>
          </a:ln>
        </p:spPr>
        <p:txBody>
          <a:bodyPr/>
          <a:lstStyle/>
          <a:p>
            <a:endParaRPr lang="en-IN"/>
          </a:p>
        </p:txBody>
      </p:sp>
      <p:sp>
        <p:nvSpPr>
          <p:cNvPr id="24" name="Text 22"/>
          <p:cNvSpPr txBox="1"/>
          <p:nvPr/>
        </p:nvSpPr>
        <p:spPr>
          <a:xfrm>
            <a:off x="8046720" y="4050792"/>
            <a:ext cx="594360" cy="457200"/>
          </a:xfrm>
          <a:prstGeom prst="rect">
            <a:avLst/>
          </a:prstGeom>
          <a:noFill/>
          <a:ln/>
        </p:spPr>
        <p:txBody>
          <a:bodyPr wrap="square" lIns="635" tIns="635" rIns="635" bIns="635"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5" name="Text 23"/>
          <p:cNvSpPr txBox="1"/>
          <p:nvPr/>
        </p:nvSpPr>
        <p:spPr>
          <a:xfrm>
            <a:off x="8823960" y="3959352"/>
            <a:ext cx="2651760" cy="731520"/>
          </a:xfrm>
          <a:prstGeom prst="rect">
            <a:avLst/>
          </a:prstGeom>
          <a:noFill/>
          <a:ln/>
        </p:spPr>
        <p:txBody>
          <a:bodyPr wrap="square" lIns="635" tIns="635" rIns="635" bIns="635"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Prove it with a holdout</a:t>
            </a:r>
            <a:endParaRPr lang="en-US" sz="1800" dirty="0"/>
          </a:p>
        </p:txBody>
      </p:sp>
      <p:sp>
        <p:nvSpPr>
          <p:cNvPr id="26" name="Text 24"/>
          <p:cNvSpPr txBox="1"/>
          <p:nvPr/>
        </p:nvSpPr>
        <p:spPr>
          <a:xfrm>
            <a:off x="8823960" y="4709160"/>
            <a:ext cx="2651760" cy="1188720"/>
          </a:xfrm>
          <a:prstGeom prst="rect">
            <a:avLst/>
          </a:prstGeom>
          <a:noFill/>
          <a:ln/>
        </p:spPr>
        <p:txBody>
          <a:bodyPr wrap="square" lIns="635" tIns="635" rIns="635" bIns="635" rtlCol="0" anchor="t"/>
          <a:lstStyle/>
          <a:p>
            <a:pPr marL="0" indent="0">
              <a:buNone/>
            </a:pPr>
            <a:r>
              <a:rPr lang="en-US" sz="1500" dirty="0">
                <a:solidFill>
                  <a:srgbClr val="EEF3EF"/>
                </a:solidFill>
                <a:latin typeface="Calibri" pitchFamily="34" charset="0"/>
                <a:ea typeface="Calibri" pitchFamily="34" charset="-122"/>
                <a:cs typeface="Calibri" pitchFamily="34" charset="-120"/>
              </a:rPr>
              <a:t>Keep 10-20% of each target group untreated to measure real uplift.</a:t>
            </a:r>
            <a:endParaRPr lang="en-US" sz="1500" dirty="0"/>
          </a:p>
        </p:txBody>
      </p:sp>
      <p:sp>
        <p:nvSpPr>
          <p:cNvPr id="28" name="Text 0"/>
          <p:cNvSpPr>
            <a:spLocks noGrp="1"/>
          </p:cNvSpPr>
          <p:nvPr>
            <p:ph type="title" idx="100" hasCustomPrompt="1"/>
          </p:nvPr>
        </p:nvSpPr>
        <p:spPr>
          <a:xfrm>
            <a:off x="731520" y="2011680"/>
            <a:ext cx="10515600" cy="1463040"/>
          </a:xfrm>
          <a:prstGeom prst="rect">
            <a:avLst/>
          </a:prstGeom>
          <a:noFill/>
          <a:ln/>
        </p:spPr>
        <p:txBody>
          <a:bodyPr wrap="square" rtlCol="0" anchor="b"/>
          <a:lstStyle/>
          <a:p>
            <a:pPr marL="0" indent="0" algn="l">
              <a:buNone/>
            </a:pPr>
            <a:endParaRPr lang="en-US" sz="4400" dirty="0"/>
          </a:p>
        </p:txBody>
      </p:sp>
      <p:sp>
        <p:nvSpPr>
          <p:cNvPr id="29" name="Text 0"/>
          <p:cNvSpPr>
            <a:spLocks noGrp="1"/>
          </p:cNvSpPr>
          <p:nvPr>
            <p:ph type="body" idx="101" hasCustomPrompt="1"/>
          </p:nvPr>
        </p:nvSpPr>
        <p:spPr>
          <a:xfrm>
            <a:off x="731520" y="3611880"/>
            <a:ext cx="10515600" cy="1463040"/>
          </a:xfrm>
          <a:prstGeom prst="rect">
            <a:avLst/>
          </a:prstGeom>
          <a:noFill/>
          <a:ln/>
        </p:spPr>
        <p:txBody>
          <a:bodyPr wrap="square" rtlCol="0" anchor="t"/>
          <a:lstStyle/>
          <a:p>
            <a:pPr marL="0" indent="0">
              <a:buNone/>
            </a:pP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Assumptions, limitations and next steps</a:t>
            </a:r>
            <a:endParaRPr lang="en-US" sz="3200" dirty="0"/>
          </a:p>
        </p:txBody>
      </p:sp>
      <p:sp>
        <p:nvSpPr>
          <p:cNvPr id="3" name="Shape 1"/>
          <p:cNvSpPr/>
          <p:nvPr/>
        </p:nvSpPr>
        <p:spPr>
          <a:xfrm>
            <a:off x="548640" y="1280160"/>
            <a:ext cx="5394960" cy="4846320"/>
          </a:xfrm>
          <a:prstGeom prst="roundRect">
            <a:avLst>
              <a:gd name="adj" fmla="val 2264"/>
            </a:avLst>
          </a:prstGeom>
          <a:solidFill>
            <a:srgbClr val="EEF3EF"/>
          </a:solidFill>
          <a:ln w="12700">
            <a:solidFill>
              <a:srgbClr val="EEF3EF"/>
            </a:solidFill>
            <a:prstDash val="solid"/>
          </a:ln>
        </p:spPr>
        <p:txBody>
          <a:bodyPr/>
          <a:lstStyle/>
          <a:p>
            <a:endParaRPr lang="en-IN"/>
          </a:p>
        </p:txBody>
      </p:sp>
      <p:sp>
        <p:nvSpPr>
          <p:cNvPr id="4" name="Text 2"/>
          <p:cNvSpPr txBox="1"/>
          <p:nvPr/>
        </p:nvSpPr>
        <p:spPr>
          <a:xfrm>
            <a:off x="777240" y="1417320"/>
            <a:ext cx="4937760" cy="457200"/>
          </a:xfrm>
          <a:prstGeom prst="rect">
            <a:avLst/>
          </a:prstGeom>
          <a:noFill/>
          <a:ln/>
        </p:spPr>
        <p:txBody>
          <a:bodyPr wrap="square" lIns="635" tIns="635" rIns="635" bIns="635" rtlCol="0" anchor="t"/>
          <a:lstStyle/>
          <a:p>
            <a:pPr marL="0" indent="0">
              <a:buNone/>
            </a:pPr>
            <a:r>
              <a:rPr lang="en-US" sz="1900" b="1" dirty="0">
                <a:solidFill>
                  <a:srgbClr val="1F4D3A"/>
                </a:solidFill>
                <a:latin typeface="Calibri" pitchFamily="34" charset="0"/>
                <a:ea typeface="Calibri" pitchFamily="34" charset="-122"/>
                <a:cs typeface="Calibri" pitchFamily="34" charset="-120"/>
              </a:rPr>
              <a:t>Assumptions and limitations</a:t>
            </a:r>
            <a:endParaRPr lang="en-US" sz="1900" dirty="0"/>
          </a:p>
        </p:txBody>
      </p:sp>
      <p:sp>
        <p:nvSpPr>
          <p:cNvPr id="5" name="Text 3"/>
          <p:cNvSpPr txBox="1"/>
          <p:nvPr/>
        </p:nvSpPr>
        <p:spPr>
          <a:xfrm>
            <a:off x="777240" y="1920240"/>
            <a:ext cx="4937760" cy="4114800"/>
          </a:xfrm>
          <a:prstGeom prst="rect">
            <a:avLst/>
          </a:prstGeom>
          <a:noFill/>
          <a:ln/>
        </p:spPr>
        <p:txBody>
          <a:bodyPr wrap="square" rtlCol="0" anchor="t"/>
          <a:lstStyle/>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Official label is the source of truth; 232 members with no prior purchase not scored</a:t>
            </a:r>
            <a:endParaRPr lang="en-US" sz="1500" dirty="0"/>
          </a:p>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Synthetic 18-month data; expect lower accuracy in production</a:t>
            </a:r>
            <a:endParaRPr lang="en-US" sz="1500" dirty="0"/>
          </a:p>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Snapshots share customers, so folds are not fully independent</a:t>
            </a:r>
            <a:endParaRPr lang="en-US" sz="1500" dirty="0"/>
          </a:p>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Scenario effects are correlational what-ifs with an assumed 50% effectiveness</a:t>
            </a:r>
            <a:endParaRPr lang="en-US" sz="1500" dirty="0"/>
          </a:p>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Fixed 3-month horizon counts paused members as churners</a:t>
            </a:r>
            <a:endParaRPr lang="en-US" sz="1500" dirty="0"/>
          </a:p>
        </p:txBody>
      </p:sp>
      <p:sp>
        <p:nvSpPr>
          <p:cNvPr id="6" name="Shape 4"/>
          <p:cNvSpPr/>
          <p:nvPr/>
        </p:nvSpPr>
        <p:spPr>
          <a:xfrm>
            <a:off x="6263640" y="1280160"/>
            <a:ext cx="5394960" cy="4846320"/>
          </a:xfrm>
          <a:prstGeom prst="roundRect">
            <a:avLst>
              <a:gd name="adj" fmla="val 2264"/>
            </a:avLst>
          </a:prstGeom>
          <a:solidFill>
            <a:srgbClr val="E7F0F5"/>
          </a:solidFill>
          <a:ln w="12700">
            <a:solidFill>
              <a:srgbClr val="E7F0F5"/>
            </a:solidFill>
            <a:prstDash val="solid"/>
          </a:ln>
        </p:spPr>
        <p:txBody>
          <a:bodyPr/>
          <a:lstStyle/>
          <a:p>
            <a:endParaRPr lang="en-IN"/>
          </a:p>
        </p:txBody>
      </p:sp>
      <p:sp>
        <p:nvSpPr>
          <p:cNvPr id="7" name="Text 5"/>
          <p:cNvSpPr txBox="1"/>
          <p:nvPr/>
        </p:nvSpPr>
        <p:spPr>
          <a:xfrm>
            <a:off x="6492240" y="1417320"/>
            <a:ext cx="4937760" cy="457200"/>
          </a:xfrm>
          <a:prstGeom prst="rect">
            <a:avLst/>
          </a:prstGeom>
          <a:noFill/>
          <a:ln/>
        </p:spPr>
        <p:txBody>
          <a:bodyPr wrap="square" lIns="635" tIns="635" rIns="635" bIns="635" rtlCol="0" anchor="t"/>
          <a:lstStyle/>
          <a:p>
            <a:pPr marL="0" indent="0">
              <a:buNone/>
            </a:pPr>
            <a:r>
              <a:rPr lang="en-US" sz="1900" b="1" dirty="0">
                <a:solidFill>
                  <a:srgbClr val="3B7EA1"/>
                </a:solidFill>
                <a:latin typeface="Calibri" pitchFamily="34" charset="0"/>
                <a:ea typeface="Calibri" pitchFamily="34" charset="-122"/>
                <a:cs typeface="Calibri" pitchFamily="34" charset="-120"/>
              </a:rPr>
              <a:t>Next steps</a:t>
            </a:r>
            <a:endParaRPr lang="en-US" sz="1900" dirty="0"/>
          </a:p>
        </p:txBody>
      </p:sp>
      <p:sp>
        <p:nvSpPr>
          <p:cNvPr id="8" name="Text 6"/>
          <p:cNvSpPr txBox="1"/>
          <p:nvPr/>
        </p:nvSpPr>
        <p:spPr>
          <a:xfrm>
            <a:off x="6492240" y="1920240"/>
            <a:ext cx="4937760" cy="4114800"/>
          </a:xfrm>
          <a:prstGeom prst="rect">
            <a:avLst/>
          </a:prstGeom>
          <a:noFill/>
          <a:ln/>
        </p:spPr>
        <p:txBody>
          <a:bodyPr wrap="square" rtlCol="0" anchor="t"/>
          <a:lstStyle/>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Run the randomised holdout and replace the assumed effectiveness with measured uplift</a:t>
            </a:r>
            <a:endParaRPr lang="en-US" sz="1500" dirty="0"/>
          </a:p>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Move to uplift modelling: target members most likely to respond, not just most at risk</a:t>
            </a:r>
            <a:endParaRPr lang="en-US" sz="1500" dirty="0"/>
          </a:p>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Monitor monthly: PR-AUC on the latest closed window, calibration, feature drift</a:t>
            </a:r>
            <a:endParaRPr lang="en-US" sz="1500" dirty="0"/>
          </a:p>
          <a:p>
            <a:pPr marL="0" indent="0">
              <a:spcAft>
                <a:spcPts val="1000"/>
              </a:spcAft>
              <a:buNone/>
            </a:pPr>
            <a:r>
              <a:rPr lang="en-US" sz="1500" dirty="0">
                <a:solidFill>
                  <a:srgbClr val="1B2A22"/>
                </a:solidFill>
                <a:latin typeface="Calibri" pitchFamily="34" charset="0"/>
                <a:ea typeface="Calibri" pitchFamily="34" charset="-122"/>
                <a:cs typeface="Calibri" pitchFamily="34" charset="-120"/>
              </a:rPr>
              <a:t>Add time-to-churn (survival) modelling to catch fast-rising risk</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8D87"/>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FreshBasket Retention">
  <a:themeElements>
    <a:clrScheme name="FreshBasket Retention">
      <a:dk1>
        <a:srgbClr val="1B2A22"/>
      </a:dk1>
      <a:lt1>
        <a:srgbClr val="FFFFFF"/>
      </a:lt1>
      <a:dk2>
        <a:srgbClr val="1F4D3A"/>
      </a:dk2>
      <a:lt2>
        <a:srgbClr val="EEF3EF"/>
      </a:lt2>
      <a:accent1>
        <a:srgbClr val="1F4D3A"/>
      </a:accent1>
      <a:accent2>
        <a:srgbClr val="E8603C"/>
      </a:accent2>
      <a:accent3>
        <a:srgbClr val="7FA86B"/>
      </a:accent3>
      <a:accent4>
        <a:srgbClr val="3B7EA1"/>
      </a:accent4>
      <a:accent5>
        <a:srgbClr val="C9A227"/>
      </a:accent5>
      <a:accent6>
        <a:srgbClr val="8A8D87"/>
      </a:accent6>
      <a:hlink>
        <a:srgbClr val="3B7EA1"/>
      </a:hlink>
      <a:folHlink>
        <a:srgbClr val="6B5B95"/>
      </a:folHlink>
    </a:clrScheme>
    <a:fontScheme name="FreshBasket Reten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1175</TotalTime>
  <Words>1723</Words>
  <Application>Microsoft Office PowerPoint</Application>
  <PresentationFormat>Widescreen</PresentationFormat>
  <Paragraphs>182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FreshBasket Retention</vt:lpstr>
      <vt:lpstr>Who will leave FreshBasket next quarter?</vt:lpstr>
      <vt:lpstr>Targeting beats blanket offers</vt:lpstr>
      <vt:lpstr>Data cleaned before modelling: every fix logged</vt:lpstr>
      <vt:lpstr>Most churners had already gone quiet</vt:lpstr>
      <vt:lpstr>Validated on the future, never a random split</vt:lpstr>
      <vt:lpstr>Support friction and disengagement precede churn</vt:lpstr>
      <vt:lpstr>Machine learning beats the recency rule where it matters</vt:lpstr>
      <vt:lpstr>Purchase momentum and app use drive risk</vt:lpstr>
      <vt:lpstr>Tier and city matter far less than behaviour</vt:lpstr>
      <vt:lpstr>Engagement and support add what demographics cannot</vt:lpstr>
      <vt:lpstr>A targeted list keeps the savings and cuts the cost</vt:lpstr>
      <vt:lpstr>PowerPoint Presentation</vt:lpstr>
      <vt:lpstr>Assumptions, limitations and 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FreshBasket Loyalty Churn</dc:title>
  <dc:subject>PptxGenJS Presentation</dc:subject>
  <dc:creator>Karthikeyan Sivasundaram</dc:creator>
  <cp:lastModifiedBy>SHUBIKSHA  K (RA2311042010018)</cp:lastModifiedBy>
  <cp:revision>2</cp:revision>
  <dcterms:created xsi:type="dcterms:W3CDTF">2026-10-06T10:57:44Z</dcterms:created>
  <dcterms:modified xsi:type="dcterms:W3CDTF">2026-10-07T08:47:43Z</dcterms:modified>
</cp:coreProperties>
</file>